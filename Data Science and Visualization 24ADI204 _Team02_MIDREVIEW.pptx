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8288000" cy="10287000"/>
  <p:notesSz cx="6858000" cy="9144000"/>
  <p:embeddedFontLst>
    <p:embeddedFont>
      <p:font typeface="Poppins" panose="020B0502040204020203" pitchFamily="2" charset="0"/>
      <p:regular r:id="rId19"/>
    </p:embeddedFont>
    <p:embeddedFont>
      <p:font typeface="Poppins Bold" panose="020B0604020202020204" charset="0"/>
      <p:regular r:id="rId20"/>
    </p:embeddedFont>
    <p:embeddedFont>
      <p:font typeface="Poppins Bold Italics" panose="020B0604020202020204" charset="0"/>
      <p:regular r:id="rId21"/>
    </p:embeddedFont>
    <p:embeddedFont>
      <p:font typeface="Poppins Italics" panose="020B0604020202020204" charset="0"/>
      <p:regular r:id="rId22"/>
    </p:embeddedFont>
    <p:embeddedFont>
      <p:font typeface="Times New Roman Bold" panose="02020803070505020304" pitchFamily="18"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6.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CCA08-E5A4-4902-BAB7-B938576A6A3A}"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34E3E8-EF4B-4478-A50B-FBB28855B0B2}" type="slidenum">
              <a:rPr lang="en-IN" smtClean="0"/>
              <a:t>‹#›</a:t>
            </a:fld>
            <a:endParaRPr lang="en-IN"/>
          </a:p>
        </p:txBody>
      </p:sp>
    </p:spTree>
    <p:extLst>
      <p:ext uri="{BB962C8B-B14F-4D97-AF65-F5344CB8AC3E}">
        <p14:creationId xmlns:p14="http://schemas.microsoft.com/office/powerpoint/2010/main" val="168661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5</a:t>
            </a:fld>
            <a:endParaRPr lang="en-IN"/>
          </a:p>
        </p:txBody>
      </p:sp>
    </p:spTree>
    <p:extLst>
      <p:ext uri="{BB962C8B-B14F-4D97-AF65-F5344CB8AC3E}">
        <p14:creationId xmlns:p14="http://schemas.microsoft.com/office/powerpoint/2010/main" val="1923667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8</a:t>
            </a:fld>
            <a:endParaRPr lang="en-IN"/>
          </a:p>
        </p:txBody>
      </p:sp>
    </p:spTree>
    <p:extLst>
      <p:ext uri="{BB962C8B-B14F-4D97-AF65-F5344CB8AC3E}">
        <p14:creationId xmlns:p14="http://schemas.microsoft.com/office/powerpoint/2010/main" val="2878042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34E3E8-EF4B-4478-A50B-FBB28855B0B2}" type="slidenum">
              <a:rPr lang="en-IN" smtClean="0"/>
              <a:t>13</a:t>
            </a:fld>
            <a:endParaRPr lang="en-IN"/>
          </a:p>
        </p:txBody>
      </p:sp>
    </p:spTree>
    <p:extLst>
      <p:ext uri="{BB962C8B-B14F-4D97-AF65-F5344CB8AC3E}">
        <p14:creationId xmlns:p14="http://schemas.microsoft.com/office/powerpoint/2010/main" val="1887969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www.kaggle.com/datasets/karthick564/flight-delay-analaysis-cleaned" TargetMode="External"/><Relationship Id="rId7" Type="http://schemas.openxmlformats.org/officeDocument/2006/relationships/hyperlink" Target="https://matplotlib.org/"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seaborn.pydata.org/" TargetMode="External"/><Relationship Id="rId5" Type="http://schemas.openxmlformats.org/officeDocument/2006/relationships/hyperlink" Target="https://pandas.pydata.org/docs/" TargetMode="External"/><Relationship Id="rId4" Type="http://schemas.openxmlformats.org/officeDocument/2006/relationships/hyperlink" Target="https://scikit-learn.org/stab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sp>
        <p:nvSpPr>
          <p:cNvPr id="2" name="Freeform 2"/>
          <p:cNvSpPr/>
          <p:nvPr/>
        </p:nvSpPr>
        <p:spPr>
          <a:xfrm>
            <a:off x="605111" y="512125"/>
            <a:ext cx="2488943" cy="2529537"/>
          </a:xfrm>
          <a:custGeom>
            <a:avLst/>
            <a:gdLst/>
            <a:ahLst/>
            <a:cxnLst/>
            <a:rect l="l" t="t" r="r" b="b"/>
            <a:pathLst>
              <a:path w="2488943" h="2529537">
                <a:moveTo>
                  <a:pt x="0" y="0"/>
                </a:moveTo>
                <a:lnTo>
                  <a:pt x="2488944" y="0"/>
                </a:lnTo>
                <a:lnTo>
                  <a:pt x="2488944" y="2529538"/>
                </a:lnTo>
                <a:lnTo>
                  <a:pt x="0" y="2529538"/>
                </a:lnTo>
                <a:lnTo>
                  <a:pt x="0" y="0"/>
                </a:lnTo>
                <a:close/>
              </a:path>
            </a:pathLst>
          </a:custGeom>
          <a:blipFill>
            <a:blip r:embed="rId2"/>
            <a:stretch>
              <a:fillRect l="-15070" t="-4622" r="-22184" b="-2965"/>
            </a:stretch>
          </a:blipFill>
        </p:spPr>
        <p:txBody>
          <a:bodyPr/>
          <a:lstStyle/>
          <a:p>
            <a:endParaRPr lang="en-IN"/>
          </a:p>
        </p:txBody>
      </p:sp>
      <p:sp>
        <p:nvSpPr>
          <p:cNvPr id="3" name="Freeform 3"/>
          <p:cNvSpPr/>
          <p:nvPr/>
        </p:nvSpPr>
        <p:spPr>
          <a:xfrm>
            <a:off x="13930705" y="658452"/>
            <a:ext cx="4049893" cy="1883200"/>
          </a:xfrm>
          <a:custGeom>
            <a:avLst/>
            <a:gdLst/>
            <a:ahLst/>
            <a:cxnLst/>
            <a:rect l="l" t="t" r="r" b="b"/>
            <a:pathLst>
              <a:path w="4049893" h="1883200">
                <a:moveTo>
                  <a:pt x="0" y="0"/>
                </a:moveTo>
                <a:lnTo>
                  <a:pt x="4049893" y="0"/>
                </a:lnTo>
                <a:lnTo>
                  <a:pt x="4049893" y="1883200"/>
                </a:lnTo>
                <a:lnTo>
                  <a:pt x="0" y="188320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3231061" y="534627"/>
            <a:ext cx="11180668" cy="2507036"/>
          </a:xfrm>
          <a:prstGeom prst="rect">
            <a:avLst/>
          </a:prstGeom>
        </p:spPr>
        <p:txBody>
          <a:bodyPr lIns="0" tIns="0" rIns="0" bIns="0" rtlCol="0" anchor="t">
            <a:spAutoFit/>
          </a:bodyPr>
          <a:lstStyle/>
          <a:p>
            <a:pPr algn="ctr">
              <a:lnSpc>
                <a:spcPts val="6996"/>
              </a:lnSpc>
            </a:pPr>
            <a:r>
              <a:rPr lang="en-US" sz="4997" b="1" dirty="0">
                <a:solidFill>
                  <a:srgbClr val="000000"/>
                </a:solidFill>
                <a:latin typeface="Times New Roman Bold"/>
                <a:ea typeface="Times New Roman Bold"/>
                <a:cs typeface="Times New Roman Bold"/>
                <a:sym typeface="Times New Roman Bold"/>
              </a:rPr>
              <a:t>Artificial Intelligence and Data Science</a:t>
            </a:r>
          </a:p>
          <a:p>
            <a:pPr algn="ctr">
              <a:lnSpc>
                <a:spcPts val="6436"/>
              </a:lnSpc>
              <a:spcBef>
                <a:spcPct val="0"/>
              </a:spcBef>
            </a:pPr>
            <a:r>
              <a:rPr lang="en-US" sz="4597" b="1" dirty="0">
                <a:solidFill>
                  <a:srgbClr val="000000"/>
                </a:solidFill>
                <a:latin typeface="Times New Roman Bold"/>
                <a:ea typeface="Times New Roman Bold"/>
                <a:cs typeface="Times New Roman Bold"/>
                <a:sym typeface="Times New Roman Bold"/>
              </a:rPr>
              <a:t>Data Science and Visualization</a:t>
            </a:r>
          </a:p>
          <a:p>
            <a:pPr algn="ctr">
              <a:lnSpc>
                <a:spcPts val="6436"/>
              </a:lnSpc>
              <a:spcBef>
                <a:spcPct val="0"/>
              </a:spcBef>
            </a:pPr>
            <a:r>
              <a:rPr lang="en-US" sz="4597" b="1" dirty="0">
                <a:solidFill>
                  <a:srgbClr val="000000"/>
                </a:solidFill>
                <a:latin typeface="Times New Roman Bold"/>
                <a:ea typeface="Times New Roman Bold"/>
                <a:cs typeface="Times New Roman Bold"/>
                <a:sym typeface="Times New Roman Bold"/>
              </a:rPr>
              <a:t>24ADI204</a:t>
            </a:r>
          </a:p>
        </p:txBody>
      </p:sp>
      <p:sp>
        <p:nvSpPr>
          <p:cNvPr id="5" name="TextBox 5"/>
          <p:cNvSpPr txBox="1"/>
          <p:nvPr/>
        </p:nvSpPr>
        <p:spPr>
          <a:xfrm>
            <a:off x="3519804" y="3412505"/>
            <a:ext cx="10410901" cy="1262092"/>
          </a:xfrm>
          <a:prstGeom prst="rect">
            <a:avLst/>
          </a:prstGeom>
        </p:spPr>
        <p:txBody>
          <a:bodyPr lIns="0" tIns="0" rIns="0" bIns="0" rtlCol="0" anchor="t">
            <a:spAutoFit/>
          </a:bodyPr>
          <a:lstStyle/>
          <a:p>
            <a:pPr algn="ctr">
              <a:lnSpc>
                <a:spcPts val="4985"/>
              </a:lnSpc>
            </a:pPr>
            <a:r>
              <a:rPr lang="en-US" sz="3561" b="1" dirty="0">
                <a:solidFill>
                  <a:srgbClr val="000000"/>
                </a:solidFill>
                <a:latin typeface="Times New Roman" panose="02020603050405020304" pitchFamily="18" charset="0"/>
                <a:ea typeface="Poppins Bold Italics"/>
                <a:cs typeface="Times New Roman" panose="02020603050405020304" pitchFamily="18" charset="0"/>
                <a:sym typeface="Poppins Bold Italics"/>
              </a:rPr>
              <a:t>DATA-VIZ HACK-A-BIT (2025-2026) </a:t>
            </a:r>
          </a:p>
          <a:p>
            <a:pPr algn="ctr">
              <a:lnSpc>
                <a:spcPts val="4985"/>
              </a:lnSpc>
              <a:spcBef>
                <a:spcPct val="0"/>
              </a:spcBef>
            </a:pPr>
            <a:endParaRPr lang="en-US" sz="3561" b="1" i="1" dirty="0">
              <a:solidFill>
                <a:srgbClr val="000000"/>
              </a:solidFill>
              <a:latin typeface="Poppins Bold Italics"/>
              <a:ea typeface="Poppins Bold Italics"/>
              <a:cs typeface="Poppins Bold Italics"/>
              <a:sym typeface="Poppins Bold Italics"/>
            </a:endParaRPr>
          </a:p>
        </p:txBody>
      </p:sp>
      <p:sp>
        <p:nvSpPr>
          <p:cNvPr id="6" name="TextBox 6"/>
          <p:cNvSpPr txBox="1"/>
          <p:nvPr/>
        </p:nvSpPr>
        <p:spPr>
          <a:xfrm>
            <a:off x="6008777" y="5507337"/>
            <a:ext cx="4887823" cy="620426"/>
          </a:xfrm>
          <a:prstGeom prst="rect">
            <a:avLst/>
          </a:prstGeom>
        </p:spPr>
        <p:txBody>
          <a:bodyPr wrap="square" lIns="0" tIns="0" rIns="0" bIns="0" rtlCol="0" anchor="t">
            <a:spAutoFit/>
          </a:bodyPr>
          <a:lstStyle/>
          <a:p>
            <a:pPr algn="ctr">
              <a:lnSpc>
                <a:spcPts val="5067"/>
              </a:lnSpc>
              <a:spcBef>
                <a:spcPct val="0"/>
              </a:spcBef>
            </a:pPr>
            <a:r>
              <a:rPr lang="en-US" sz="3619" dirty="0">
                <a:solidFill>
                  <a:srgbClr val="000000"/>
                </a:solidFill>
                <a:latin typeface="Times New Roman" panose="02020603050405020304" pitchFamily="18" charset="0"/>
                <a:ea typeface="Poppins"/>
                <a:cs typeface="Times New Roman" panose="02020603050405020304" pitchFamily="18" charset="0"/>
                <a:sym typeface="Poppins"/>
              </a:rPr>
              <a:t>Team Number:  02</a:t>
            </a:r>
          </a:p>
        </p:txBody>
      </p:sp>
      <p:sp>
        <p:nvSpPr>
          <p:cNvPr id="7" name="TextBox 7"/>
          <p:cNvSpPr txBox="1"/>
          <p:nvPr/>
        </p:nvSpPr>
        <p:spPr>
          <a:xfrm>
            <a:off x="4343400" y="6515100"/>
            <a:ext cx="11180667" cy="2432589"/>
          </a:xfrm>
          <a:prstGeom prst="rect">
            <a:avLst/>
          </a:prstGeom>
        </p:spPr>
        <p:txBody>
          <a:bodyPr wrap="square" lIns="0" tIns="0" rIns="0" bIns="0" rtlCol="0" anchor="t">
            <a:spAutoFit/>
          </a:bodyPr>
          <a:lstStyle/>
          <a:p>
            <a:pPr algn="l">
              <a:lnSpc>
                <a:spcPts val="4846"/>
              </a:lnSpc>
              <a:spcBef>
                <a:spcPct val="0"/>
              </a:spcBef>
            </a:pPr>
            <a:r>
              <a:rPr lang="en-US" sz="3461" dirty="0">
                <a:solidFill>
                  <a:srgbClr val="000000"/>
                </a:solidFill>
                <a:latin typeface="Poppins"/>
                <a:ea typeface="Poppins"/>
                <a:cs typeface="Poppins"/>
                <a:sym typeface="Poppins"/>
              </a:rPr>
              <a:t>1.________KARTHICK.N_______(24BAD055)</a:t>
            </a:r>
          </a:p>
          <a:p>
            <a:pPr algn="l">
              <a:lnSpc>
                <a:spcPts val="4846"/>
              </a:lnSpc>
              <a:spcBef>
                <a:spcPct val="0"/>
              </a:spcBef>
            </a:pPr>
            <a:r>
              <a:rPr lang="en-US" sz="3461" dirty="0">
                <a:solidFill>
                  <a:srgbClr val="000000"/>
                </a:solidFill>
                <a:latin typeface="Poppins"/>
                <a:ea typeface="Poppins"/>
                <a:cs typeface="Poppins"/>
                <a:sym typeface="Poppins"/>
              </a:rPr>
              <a:t>2.________MANOJ.M________(24BAD067)</a:t>
            </a:r>
          </a:p>
          <a:p>
            <a:pPr algn="l">
              <a:lnSpc>
                <a:spcPts val="4846"/>
              </a:lnSpc>
              <a:spcBef>
                <a:spcPct val="0"/>
              </a:spcBef>
            </a:pPr>
            <a:r>
              <a:rPr lang="en-US" sz="3461" dirty="0">
                <a:solidFill>
                  <a:srgbClr val="000000"/>
                </a:solidFill>
                <a:latin typeface="Poppins"/>
                <a:ea typeface="Poppins"/>
                <a:cs typeface="Poppins"/>
                <a:sym typeface="Poppins"/>
              </a:rPr>
              <a:t>3.________NEHA.N .K________(24BAD078)</a:t>
            </a:r>
          </a:p>
          <a:p>
            <a:pPr algn="l">
              <a:lnSpc>
                <a:spcPts val="4846"/>
              </a:lnSpc>
              <a:spcBef>
                <a:spcPct val="0"/>
              </a:spcBef>
            </a:pPr>
            <a:r>
              <a:rPr lang="en-US" sz="3461" dirty="0">
                <a:solidFill>
                  <a:srgbClr val="000000"/>
                </a:solidFill>
                <a:latin typeface="Poppins"/>
                <a:ea typeface="Poppins"/>
                <a:cs typeface="Poppins"/>
                <a:sym typeface="Poppins"/>
              </a:rPr>
              <a:t>4.________PRANESH.M_______(24BAD089)</a:t>
            </a:r>
          </a:p>
        </p:txBody>
      </p:sp>
      <p:sp>
        <p:nvSpPr>
          <p:cNvPr id="8" name="TextBox 8"/>
          <p:cNvSpPr txBox="1"/>
          <p:nvPr/>
        </p:nvSpPr>
        <p:spPr>
          <a:xfrm>
            <a:off x="5257800" y="4455918"/>
            <a:ext cx="6324600" cy="480901"/>
          </a:xfrm>
          <a:prstGeom prst="rect">
            <a:avLst/>
          </a:prstGeom>
        </p:spPr>
        <p:txBody>
          <a:bodyPr wrap="square" lIns="0" tIns="0" rIns="0" bIns="0" rtlCol="0" anchor="t">
            <a:spAutoFit/>
          </a:bodyPr>
          <a:lstStyle/>
          <a:p>
            <a:pPr algn="ctr">
              <a:lnSpc>
                <a:spcPts val="3963"/>
              </a:lnSpc>
              <a:spcBef>
                <a:spcPct val="0"/>
              </a:spcBef>
            </a:pPr>
            <a:r>
              <a:rPr lang="en-US" sz="3200" b="1" dirty="0">
                <a:solidFill>
                  <a:srgbClr val="000000"/>
                </a:solidFill>
                <a:latin typeface="Times New Roman" panose="02020603050405020304" pitchFamily="18" charset="0"/>
                <a:ea typeface="Poppins Bold"/>
                <a:cs typeface="Times New Roman" panose="02020603050405020304" pitchFamily="18" charset="0"/>
                <a:sym typeface="Poppins Bold"/>
              </a:rPr>
              <a:t>Review-1 (10th March,2026)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Problem Statement </a:t>
            </a:r>
          </a:p>
        </p:txBody>
      </p:sp>
      <p:sp>
        <p:nvSpPr>
          <p:cNvPr id="6" name="TextBox 6"/>
          <p:cNvSpPr txBox="1"/>
          <p:nvPr/>
        </p:nvSpPr>
        <p:spPr>
          <a:xfrm>
            <a:off x="3810000" y="3040360"/>
            <a:ext cx="11661555" cy="4206280"/>
          </a:xfrm>
          <a:prstGeom prst="rect">
            <a:avLst/>
          </a:prstGeom>
        </p:spPr>
        <p:txBody>
          <a:bodyPr wrap="square" lIns="0" tIns="0" rIns="0" bIns="0" rtlCol="0" anchor="t">
            <a:spAutoFit/>
          </a:bodyPr>
          <a:lstStyle/>
          <a:p>
            <a:pPr algn="ctr">
              <a:lnSpc>
                <a:spcPts val="4105"/>
              </a:lnSpc>
              <a:spcBef>
                <a:spcPct val="0"/>
              </a:spcBef>
            </a:pPr>
            <a:r>
              <a:rPr lang="en-US" sz="3600" dirty="0">
                <a:latin typeface="Times New Roman" panose="02020603050405020304" pitchFamily="18" charset="0"/>
                <a:ea typeface="Poppins Italics"/>
                <a:cs typeface="Times New Roman" panose="02020603050405020304" pitchFamily="18" charset="0"/>
                <a:sym typeface="Poppins Italics"/>
              </a:rPr>
              <a:t>The US aviation network loses millions of minutes annually to flight delays, causing massive financial and operational disruptions. It is incredibly difficult to isolate whether delays are caused by compounding network domino effects (late departures), airline inefficiencies, or independent bottlenecks like weather. We need to decode these raw, highly skewed operational logs into visual narratives to identify the true root causes of delays</a:t>
            </a:r>
          </a:p>
        </p:txBody>
      </p:sp>
      <p:sp>
        <p:nvSpPr>
          <p:cNvPr id="7" name="Freeform 7"/>
          <p:cNvSpPr/>
          <p:nvPr/>
        </p:nvSpPr>
        <p:spPr>
          <a:xfrm>
            <a:off x="734625" y="3363003"/>
            <a:ext cx="1906078" cy="1732798"/>
          </a:xfrm>
          <a:custGeom>
            <a:avLst/>
            <a:gdLst/>
            <a:ahLst/>
            <a:cxnLst/>
            <a:rect l="l" t="t" r="r" b="b"/>
            <a:pathLst>
              <a:path w="1906078" h="1732798">
                <a:moveTo>
                  <a:pt x="0" y="0"/>
                </a:moveTo>
                <a:lnTo>
                  <a:pt x="1906078" y="0"/>
                </a:lnTo>
                <a:lnTo>
                  <a:pt x="1906078" y="1732798"/>
                </a:lnTo>
                <a:lnTo>
                  <a:pt x="0" y="17327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pic>
        <p:nvPicPr>
          <p:cNvPr id="9" name="Picture 8" descr="DELAYED&#10;&#10;AI-generated content may be incorrect.">
            <a:extLst>
              <a:ext uri="{FF2B5EF4-FFF2-40B4-BE49-F238E27FC236}">
                <a16:creationId xmlns:a16="http://schemas.microsoft.com/office/drawing/2014/main" id="{5F2F243A-FD4A-881D-5CCE-1A82896CF99F}"/>
              </a:ext>
            </a:extLst>
          </p:cNvPr>
          <p:cNvPicPr>
            <a:picLocks noChangeAspect="1"/>
          </p:cNvPicPr>
          <p:nvPr/>
        </p:nvPicPr>
        <p:blipFill>
          <a:blip r:embed="rId4"/>
          <a:stretch>
            <a:fillRect/>
          </a:stretch>
        </p:blipFill>
        <p:spPr>
          <a:xfrm>
            <a:off x="7620000" y="7886700"/>
            <a:ext cx="3686562" cy="20079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Project Objectives</a:t>
            </a:r>
          </a:p>
        </p:txBody>
      </p:sp>
      <p:sp>
        <p:nvSpPr>
          <p:cNvPr id="7" name="Freeform 7"/>
          <p:cNvSpPr/>
          <p:nvPr/>
        </p:nvSpPr>
        <p:spPr>
          <a:xfrm>
            <a:off x="381604" y="4686300"/>
            <a:ext cx="1828196" cy="1828196"/>
          </a:xfrm>
          <a:custGeom>
            <a:avLst/>
            <a:gdLst/>
            <a:ahLst/>
            <a:cxnLst/>
            <a:rect l="l" t="t" r="r" b="b"/>
            <a:pathLst>
              <a:path w="1828196" h="1828196">
                <a:moveTo>
                  <a:pt x="0" y="0"/>
                </a:moveTo>
                <a:lnTo>
                  <a:pt x="1828196" y="0"/>
                </a:lnTo>
                <a:lnTo>
                  <a:pt x="1828196" y="1828196"/>
                </a:lnTo>
                <a:lnTo>
                  <a:pt x="0" y="1828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TextBox 6">
            <a:extLst>
              <a:ext uri="{FF2B5EF4-FFF2-40B4-BE49-F238E27FC236}">
                <a16:creationId xmlns:a16="http://schemas.microsoft.com/office/drawing/2014/main" id="{5C4D66E1-D906-E541-EC3B-3B678DB473AE}"/>
              </a:ext>
            </a:extLst>
          </p:cNvPr>
          <p:cNvSpPr txBox="1"/>
          <p:nvPr/>
        </p:nvSpPr>
        <p:spPr>
          <a:xfrm>
            <a:off x="2819400" y="3040360"/>
            <a:ext cx="13258800" cy="5783635"/>
          </a:xfrm>
          <a:prstGeom prst="rect">
            <a:avLst/>
          </a:prstGeom>
        </p:spPr>
        <p:txBody>
          <a:bodyPr wrap="square" lIns="0" tIns="0" rIns="0" bIns="0" rtlCol="0" anchor="t">
            <a:spAutoFit/>
          </a:bodyPr>
          <a:lstStyle/>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Primary Objective</a:t>
            </a:r>
            <a:r>
              <a:rPr lang="en-US" sz="3600" dirty="0">
                <a:latin typeface="Times New Roman" panose="02020603050405020304" pitchFamily="18" charset="0"/>
                <a:ea typeface="Poppins Italics"/>
                <a:cs typeface="Times New Roman" panose="02020603050405020304" pitchFamily="18" charset="0"/>
                <a:sym typeface="Poppins Italics"/>
              </a:rPr>
              <a:t>: To uncover the root operational and seasonal drivers of flight disruptions using advanced visual storytelling and statistical analysis.</a:t>
            </a:r>
          </a:p>
          <a:p>
            <a:pPr>
              <a:lnSpc>
                <a:spcPts val="4105"/>
              </a:lnSpc>
              <a:spcBef>
                <a:spcPct val="0"/>
              </a:spcBef>
            </a:pPr>
            <a:endParaRPr lang="en-US" sz="3600" b="1"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Secondary Objective</a:t>
            </a:r>
            <a:r>
              <a:rPr lang="en-US" sz="3600" dirty="0">
                <a:latin typeface="Times New Roman" panose="02020603050405020304" pitchFamily="18" charset="0"/>
                <a:ea typeface="Poppins Italics"/>
                <a:cs typeface="Times New Roman" panose="02020603050405020304" pitchFamily="18" charset="0"/>
                <a:sym typeface="Poppins Italics"/>
              </a:rPr>
              <a:t>: To mathematically clean, normalize, and transform a heavily right-skewed dataset of 1.7 million rows into a machine-learning-ready format.</a:t>
            </a:r>
          </a:p>
          <a:p>
            <a:pPr>
              <a:lnSpc>
                <a:spcPts val="4105"/>
              </a:lnSpc>
              <a:spcBef>
                <a:spcPct val="0"/>
              </a:spcBef>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3600" b="1" dirty="0">
                <a:latin typeface="Times New Roman" panose="02020603050405020304" pitchFamily="18" charset="0"/>
                <a:ea typeface="Poppins Italics"/>
                <a:cs typeface="Times New Roman" panose="02020603050405020304" pitchFamily="18" charset="0"/>
                <a:sym typeface="Poppins Italics"/>
              </a:rPr>
              <a:t>Expected Outcome: </a:t>
            </a:r>
            <a:r>
              <a:rPr lang="en-US" sz="3600" dirty="0">
                <a:latin typeface="Times New Roman" panose="02020603050405020304" pitchFamily="18" charset="0"/>
                <a:ea typeface="Poppins Italics"/>
                <a:cs typeface="Times New Roman" panose="02020603050405020304" pitchFamily="18" charset="0"/>
                <a:sym typeface="Poppins Italics"/>
              </a:rPr>
              <a:t>A perfectly encoded, lightweight dataset ready for dimensionality reduction, culminating in an interactive </a:t>
            </a:r>
            <a:r>
              <a:rPr lang="en-US" sz="3600" dirty="0" err="1">
                <a:latin typeface="Times New Roman" panose="02020603050405020304" pitchFamily="18" charset="0"/>
                <a:ea typeface="Poppins Italics"/>
                <a:cs typeface="Times New Roman" panose="02020603050405020304" pitchFamily="18" charset="0"/>
                <a:sym typeface="Poppins Italics"/>
              </a:rPr>
              <a:t>Streamlit</a:t>
            </a:r>
            <a:r>
              <a:rPr lang="en-US" sz="3600" dirty="0">
                <a:latin typeface="Times New Roman" panose="02020603050405020304" pitchFamily="18" charset="0"/>
                <a:ea typeface="Poppins Italics"/>
                <a:cs typeface="Times New Roman" panose="02020603050405020304" pitchFamily="18" charset="0"/>
                <a:sym typeface="Poppins Italics"/>
              </a:rPr>
              <a:t> dashboard for visualizing delay risks.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a:solidFill>
                  <a:srgbClr val="FFFFFF"/>
                </a:solidFill>
                <a:latin typeface="Poppins Bold"/>
                <a:ea typeface="Poppins Bold"/>
                <a:cs typeface="Poppins Bold"/>
                <a:sym typeface="Poppins Bold"/>
              </a:rPr>
              <a:t>Scope of the Project</a:t>
            </a:r>
          </a:p>
        </p:txBody>
      </p:sp>
      <p:sp>
        <p:nvSpPr>
          <p:cNvPr id="6" name="TextBox 5">
            <a:extLst>
              <a:ext uri="{FF2B5EF4-FFF2-40B4-BE49-F238E27FC236}">
                <a16:creationId xmlns:a16="http://schemas.microsoft.com/office/drawing/2014/main" id="{7AB9A680-E8CB-1693-9F8B-F39CF902BCC4}"/>
              </a:ext>
            </a:extLst>
          </p:cNvPr>
          <p:cNvSpPr txBox="1"/>
          <p:nvPr/>
        </p:nvSpPr>
        <p:spPr>
          <a:xfrm>
            <a:off x="685800" y="3092274"/>
            <a:ext cx="11125200" cy="5632311"/>
          </a:xfrm>
          <a:prstGeom prst="rect">
            <a:avLst/>
          </a:prstGeom>
          <a:noFill/>
        </p:spPr>
        <p:txBody>
          <a:bodyPr wrap="square" rtlCol="0">
            <a:spAutoFit/>
          </a:bodyPr>
          <a:lstStyle/>
          <a:p>
            <a:r>
              <a:rPr lang="en-US" sz="4000" dirty="0"/>
              <a:t>Data Footprint: Analyzing 1.7 million US domestic flight records from 2024.</a:t>
            </a:r>
          </a:p>
          <a:p>
            <a:endParaRPr lang="en-US" sz="4000" dirty="0"/>
          </a:p>
          <a:p>
            <a:r>
              <a:rPr lang="en-US" sz="4000" dirty="0"/>
              <a:t>Operational Focus: Evaluating the Top 10 highest-volume airlines and major US airport hubs.</a:t>
            </a:r>
          </a:p>
          <a:p>
            <a:endParaRPr lang="en-US" sz="4000" dirty="0"/>
          </a:p>
          <a:p>
            <a:r>
              <a:rPr lang="en-US" sz="4000" dirty="0"/>
              <a:t>Analytical Boundary: Excluding fully cancelled or diverted flights to focus purely on continuous delay minutes and network bottlenecks.</a:t>
            </a:r>
            <a:endParaRPr lang="en-IN" sz="4000" dirty="0"/>
          </a:p>
        </p:txBody>
      </p:sp>
      <p:pic>
        <p:nvPicPr>
          <p:cNvPr id="8" name="Picture 7" descr="The image is a map illustrating various U.S. airline hubs, including major cities such as Seattle, Philadelphia, Minneapolis, Newark, and others.&#10;&#10;AI-generated content may be incorrect.">
            <a:extLst>
              <a:ext uri="{FF2B5EF4-FFF2-40B4-BE49-F238E27FC236}">
                <a16:creationId xmlns:a16="http://schemas.microsoft.com/office/drawing/2014/main" id="{E8E522C8-7FBA-4D51-039A-D57C4EDC0DC4}"/>
              </a:ext>
            </a:extLst>
          </p:cNvPr>
          <p:cNvPicPr>
            <a:picLocks noChangeAspect="1"/>
          </p:cNvPicPr>
          <p:nvPr/>
        </p:nvPicPr>
        <p:blipFill>
          <a:blip r:embed="rId2"/>
          <a:stretch>
            <a:fillRect/>
          </a:stretch>
        </p:blipFill>
        <p:spPr>
          <a:xfrm>
            <a:off x="12268200" y="3243644"/>
            <a:ext cx="4876800" cy="509992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378542"/>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422448" y="923093"/>
            <a:ext cx="8840169" cy="1185092"/>
          </a:xfrm>
          <a:prstGeom prst="rect">
            <a:avLst/>
          </a:prstGeom>
        </p:spPr>
        <p:txBody>
          <a:bodyPr lIns="0" tIns="0" rIns="0" bIns="0" rtlCol="0" anchor="t">
            <a:spAutoFit/>
          </a:bodyPr>
          <a:lstStyle/>
          <a:p>
            <a:pPr algn="ctr">
              <a:lnSpc>
                <a:spcPts val="9229"/>
              </a:lnSpc>
              <a:spcBef>
                <a:spcPct val="0"/>
              </a:spcBef>
            </a:pPr>
            <a:r>
              <a:rPr lang="en-US" sz="6592" b="1" dirty="0">
                <a:solidFill>
                  <a:srgbClr val="FFFFFF"/>
                </a:solidFill>
                <a:latin typeface="Poppins Bold"/>
                <a:ea typeface="Poppins Bold"/>
                <a:cs typeface="Poppins Bold"/>
                <a:sym typeface="Poppins Bold"/>
              </a:rPr>
              <a:t>Dataset Description</a:t>
            </a:r>
          </a:p>
        </p:txBody>
      </p:sp>
      <p:sp>
        <p:nvSpPr>
          <p:cNvPr id="6" name="TextBox 6"/>
          <p:cNvSpPr txBox="1"/>
          <p:nvPr/>
        </p:nvSpPr>
        <p:spPr>
          <a:xfrm>
            <a:off x="2667000" y="2652736"/>
            <a:ext cx="13411200" cy="6463308"/>
          </a:xfrm>
          <a:prstGeom prst="rect">
            <a:avLst/>
          </a:prstGeom>
        </p:spPr>
        <p:txBody>
          <a:bodyPr wrap="square" lIns="0" tIns="0" rIns="0" bIns="0" rtlCol="0" anchor="t">
            <a:spAutoFit/>
          </a:bodyPr>
          <a:lstStyle/>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Dataset Source: Official US Logistics &amp; Aviation Portal (Bureau of Transportation Statistics / Department of Transportation)</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Number of records: 1,669,746 rows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Number of features: 26 original raw columns (Expanded to 32 engineered features)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Target variable: ARR_DELAY (Continuous) / IS_DELAYED (Binary &gt; 15 mins)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Data type: Structured, tabular numeric and categorical data</a:t>
            </a:r>
          </a:p>
        </p:txBody>
      </p:sp>
      <p:sp>
        <p:nvSpPr>
          <p:cNvPr id="7" name="Freeform 7"/>
          <p:cNvSpPr/>
          <p:nvPr/>
        </p:nvSpPr>
        <p:spPr>
          <a:xfrm>
            <a:off x="589484" y="3326504"/>
            <a:ext cx="1561780" cy="1561780"/>
          </a:xfrm>
          <a:custGeom>
            <a:avLst/>
            <a:gdLst/>
            <a:ahLst/>
            <a:cxnLst/>
            <a:rect l="l" t="t" r="r" b="b"/>
            <a:pathLst>
              <a:path w="1561780" h="1561780">
                <a:moveTo>
                  <a:pt x="0" y="0"/>
                </a:moveTo>
                <a:lnTo>
                  <a:pt x="1561781" y="0"/>
                </a:lnTo>
                <a:lnTo>
                  <a:pt x="1561781" y="1561780"/>
                </a:lnTo>
                <a:lnTo>
                  <a:pt x="0" y="15617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dirty="0">
                <a:solidFill>
                  <a:srgbClr val="FFFFFF"/>
                </a:solidFill>
                <a:latin typeface="Poppins Bold"/>
                <a:ea typeface="Poppins Bold"/>
                <a:cs typeface="Poppins Bold"/>
                <a:sym typeface="Poppins Bold"/>
              </a:rPr>
              <a:t>Methodology(Process / Workflow)</a:t>
            </a:r>
          </a:p>
        </p:txBody>
      </p:sp>
      <p:sp>
        <p:nvSpPr>
          <p:cNvPr id="7" name="Freeform 7"/>
          <p:cNvSpPr/>
          <p:nvPr/>
        </p:nvSpPr>
        <p:spPr>
          <a:xfrm>
            <a:off x="339787" y="3086100"/>
            <a:ext cx="2066922" cy="2057400"/>
          </a:xfrm>
          <a:custGeom>
            <a:avLst/>
            <a:gdLst/>
            <a:ahLst/>
            <a:cxnLst/>
            <a:rect l="l" t="t" r="r" b="b"/>
            <a:pathLst>
              <a:path w="2066922" h="2057400">
                <a:moveTo>
                  <a:pt x="0" y="0"/>
                </a:moveTo>
                <a:lnTo>
                  <a:pt x="2066922" y="0"/>
                </a:lnTo>
                <a:lnTo>
                  <a:pt x="2066922"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TextBox 6">
            <a:extLst>
              <a:ext uri="{FF2B5EF4-FFF2-40B4-BE49-F238E27FC236}">
                <a16:creationId xmlns:a16="http://schemas.microsoft.com/office/drawing/2014/main" id="{1A715B18-4D8B-2CFE-BE5F-26DE7FE3A666}"/>
              </a:ext>
            </a:extLst>
          </p:cNvPr>
          <p:cNvSpPr txBox="1"/>
          <p:nvPr/>
        </p:nvSpPr>
        <p:spPr>
          <a:xfrm>
            <a:off x="2819399" y="3040360"/>
            <a:ext cx="15128813" cy="6835204"/>
          </a:xfrm>
          <a:prstGeom prst="rect">
            <a:avLst/>
          </a:prstGeom>
        </p:spPr>
        <p:txBody>
          <a:bodyPr wrap="square" lIns="0" tIns="0" rIns="0" bIns="0" rtlCol="0" anchor="t">
            <a:spAutoFit/>
          </a:bodyPr>
          <a:lstStyle/>
          <a:p>
            <a:pPr>
              <a:lnSpc>
                <a:spcPts val="4105"/>
              </a:lnSpc>
              <a:spcBef>
                <a:spcPct val="0"/>
              </a:spcBef>
            </a:pPr>
            <a:r>
              <a:rPr lang="en-US" sz="4000" b="1" dirty="0">
                <a:latin typeface="Times New Roman" panose="02020603050405020304" pitchFamily="18" charset="0"/>
                <a:ea typeface="Poppins Italics"/>
                <a:cs typeface="Times New Roman" panose="02020603050405020304" pitchFamily="18" charset="0"/>
                <a:sym typeface="Poppins Italics"/>
              </a:rPr>
              <a:t>Data Collection: </a:t>
            </a:r>
            <a:r>
              <a:rPr lang="en-US" sz="4000" dirty="0">
                <a:latin typeface="Times New Roman" panose="02020603050405020304" pitchFamily="18" charset="0"/>
                <a:ea typeface="Poppins Italics"/>
                <a:cs typeface="Times New Roman" panose="02020603050405020304" pitchFamily="18" charset="0"/>
                <a:sym typeface="Poppins Italics"/>
              </a:rPr>
              <a:t>Sourced a comprehensive 2024 US flights dataset from Bureau of Transportation Statistics / Department of Transportation.</a:t>
            </a:r>
          </a:p>
          <a:p>
            <a:pPr>
              <a:lnSpc>
                <a:spcPts val="4105"/>
              </a:lnSpc>
              <a:spcBef>
                <a:spcPct val="0"/>
              </a:spcBef>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4000" b="1" dirty="0">
                <a:latin typeface="Times New Roman" panose="02020603050405020304" pitchFamily="18" charset="0"/>
                <a:ea typeface="Poppins Italics"/>
                <a:cs typeface="Times New Roman" panose="02020603050405020304" pitchFamily="18" charset="0"/>
                <a:sym typeface="Poppins Italics"/>
              </a:rPr>
              <a:t>Data Preprocessing: </a:t>
            </a:r>
            <a:r>
              <a:rPr lang="en-US" sz="4000" dirty="0">
                <a:latin typeface="Times New Roman" panose="02020603050405020304" pitchFamily="18" charset="0"/>
                <a:ea typeface="Poppins Italics"/>
                <a:cs typeface="Times New Roman" panose="02020603050405020304" pitchFamily="18" charset="0"/>
                <a:sym typeface="Poppins Italics"/>
              </a:rPr>
              <a:t>Handled ghost rows, capped extreme outliers (1440 minutes), and imputed missing time fields using medians.</a:t>
            </a:r>
          </a:p>
          <a:p>
            <a:pPr>
              <a:lnSpc>
                <a:spcPts val="4105"/>
              </a:lnSpc>
              <a:spcBef>
                <a:spcPct val="0"/>
              </a:spcBef>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4000" b="1" dirty="0">
                <a:latin typeface="Times New Roman" panose="02020603050405020304" pitchFamily="18" charset="0"/>
                <a:ea typeface="Poppins Italics"/>
                <a:cs typeface="Times New Roman" panose="02020603050405020304" pitchFamily="18" charset="0"/>
                <a:sym typeface="Poppins Italics"/>
              </a:rPr>
              <a:t>Exploratory Data Analysis (EDA): </a:t>
            </a:r>
            <a:r>
              <a:rPr lang="en-US" sz="4000" dirty="0">
                <a:latin typeface="Times New Roman" panose="02020603050405020304" pitchFamily="18" charset="0"/>
                <a:ea typeface="Poppins Italics"/>
                <a:cs typeface="Times New Roman" panose="02020603050405020304" pitchFamily="18" charset="0"/>
                <a:sym typeface="Poppins Italics"/>
              </a:rPr>
              <a:t>Mapped density correlations, plotted Top 10 airline operational variances, and identified independent delay triggers.</a:t>
            </a:r>
          </a:p>
          <a:p>
            <a:pPr>
              <a:lnSpc>
                <a:spcPts val="4105"/>
              </a:lnSpc>
              <a:spcBef>
                <a:spcPct val="0"/>
              </a:spcBef>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a:lnSpc>
                <a:spcPts val="4105"/>
              </a:lnSpc>
              <a:spcBef>
                <a:spcPct val="0"/>
              </a:spcBef>
            </a:pPr>
            <a:r>
              <a:rPr lang="en-US" sz="4000" b="1" dirty="0">
                <a:latin typeface="Times New Roman" panose="02020603050405020304" pitchFamily="18" charset="0"/>
                <a:ea typeface="Poppins Italics"/>
                <a:cs typeface="Times New Roman" panose="02020603050405020304" pitchFamily="18" charset="0"/>
                <a:sym typeface="Poppins Italics"/>
              </a:rPr>
              <a:t>Feature Engineering (Till Week 6): </a:t>
            </a:r>
            <a:r>
              <a:rPr lang="en-US" sz="4000" dirty="0">
                <a:latin typeface="Times New Roman" panose="02020603050405020304" pitchFamily="18" charset="0"/>
                <a:ea typeface="Poppins Italics"/>
                <a:cs typeface="Times New Roman" panose="02020603050405020304" pitchFamily="18" charset="0"/>
                <a:sym typeface="Poppins Italics"/>
              </a:rPr>
              <a:t>Applied Cube Root transformations to fix extreme skewness, </a:t>
            </a:r>
            <a:r>
              <a:rPr lang="en-US" sz="4000" dirty="0" err="1">
                <a:latin typeface="Times New Roman" panose="02020603050405020304" pitchFamily="18" charset="0"/>
                <a:ea typeface="Poppins Italics"/>
                <a:cs typeface="Times New Roman" panose="02020603050405020304" pitchFamily="18" charset="0"/>
                <a:sym typeface="Poppins Italics"/>
              </a:rPr>
              <a:t>MinMax</a:t>
            </a:r>
            <a:r>
              <a:rPr lang="en-US" sz="4000" dirty="0">
                <a:latin typeface="Times New Roman" panose="02020603050405020304" pitchFamily="18" charset="0"/>
                <a:ea typeface="Poppins Italics"/>
                <a:cs typeface="Times New Roman" panose="02020603050405020304" pitchFamily="18" charset="0"/>
                <a:sym typeface="Poppins Italics"/>
              </a:rPr>
              <a:t> Scaling for time variables, and memory-safe Label Encoding for high-cardinality airports</a:t>
            </a:r>
            <a:r>
              <a:rPr lang="en-US" sz="3200" dirty="0">
                <a:latin typeface="Times New Roman" panose="02020603050405020304" pitchFamily="18" charset="0"/>
                <a:ea typeface="Poppins Italics"/>
                <a:cs typeface="Times New Roman" panose="02020603050405020304" pitchFamily="18" charset="0"/>
                <a:sym typeface="Poppins Italic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2022149" y="2655777"/>
            <a:ext cx="10093651" cy="7514493"/>
          </a:xfrm>
          <a:prstGeom prst="rect">
            <a:avLst/>
          </a:prstGeom>
        </p:spPr>
        <p:txBody>
          <a:bodyPr wrap="square" lIns="0" tIns="0" rIns="0" bIns="0" rtlCol="0" anchor="t">
            <a:spAutoFit/>
          </a:bodyPr>
          <a:lstStyle/>
          <a:p>
            <a:pPr algn="l">
              <a:lnSpc>
                <a:spcPts val="4235"/>
              </a:lnSpc>
            </a:pPr>
            <a:endParaRPr dirty="0"/>
          </a:p>
          <a:p>
            <a:pPr marL="898068" lvl="1" indent="-571500">
              <a:lnSpc>
                <a:spcPts val="4235"/>
              </a:lnSpc>
              <a:buFont typeface="Arial" panose="020B0604020202020204" pitchFamily="34" charset="0"/>
              <a:buChar char="•"/>
            </a:pPr>
            <a:r>
              <a:rPr lang="en-US" sz="4400" dirty="0">
                <a:latin typeface="Times New Roman" panose="02020603050405020304" pitchFamily="18" charset="0"/>
                <a:ea typeface="Poppins Italics"/>
                <a:cs typeface="Times New Roman" panose="02020603050405020304" pitchFamily="18" charset="0"/>
                <a:sym typeface="Poppins Italics"/>
              </a:rPr>
              <a:t>Successfully cleaned "ghost rows" ensuring strict structural integrity across all 1.6+ million rows.</a:t>
            </a:r>
          </a:p>
          <a:p>
            <a:pPr marL="898068" lvl="1" indent="-571500">
              <a:lnSpc>
                <a:spcPts val="4235"/>
              </a:lnSpc>
              <a:buFont typeface="Arial" panose="020B0604020202020204" pitchFamily="34" charset="0"/>
              <a:buChar char="•"/>
            </a:pPr>
            <a:endParaRPr lang="en-US" sz="4400" dirty="0">
              <a:latin typeface="Times New Roman" panose="02020603050405020304" pitchFamily="18" charset="0"/>
              <a:ea typeface="Poppins Italics"/>
              <a:cs typeface="Times New Roman" panose="02020603050405020304" pitchFamily="18" charset="0"/>
              <a:sym typeface="Poppins Italics"/>
            </a:endParaRPr>
          </a:p>
          <a:p>
            <a:pPr marL="898068" lvl="1" indent="-571500">
              <a:lnSpc>
                <a:spcPts val="4235"/>
              </a:lnSpc>
              <a:buFont typeface="Arial" panose="020B0604020202020204" pitchFamily="34" charset="0"/>
              <a:buChar char="•"/>
            </a:pPr>
            <a:r>
              <a:rPr lang="en-US" sz="4400" dirty="0">
                <a:latin typeface="Times New Roman" panose="02020603050405020304" pitchFamily="18" charset="0"/>
                <a:ea typeface="Poppins Italics"/>
                <a:cs typeface="Times New Roman" panose="02020603050405020304" pitchFamily="18" charset="0"/>
                <a:sym typeface="Poppins Italics"/>
              </a:rPr>
              <a:t>Converted string-based time entries (e.g., '06:00') into continuous "minutes past midnight" numerical features for mathematical scaling.</a:t>
            </a:r>
          </a:p>
          <a:p>
            <a:pPr marL="898068" lvl="1" indent="-571500">
              <a:lnSpc>
                <a:spcPts val="4235"/>
              </a:lnSpc>
              <a:buFont typeface="Arial" panose="020B0604020202020204" pitchFamily="34" charset="0"/>
              <a:buChar char="•"/>
            </a:pPr>
            <a:endParaRPr lang="en-US" sz="4400" dirty="0">
              <a:latin typeface="Times New Roman" panose="02020603050405020304" pitchFamily="18" charset="0"/>
              <a:ea typeface="Poppins Italics"/>
              <a:cs typeface="Times New Roman" panose="02020603050405020304" pitchFamily="18" charset="0"/>
              <a:sym typeface="Poppins Italics"/>
            </a:endParaRPr>
          </a:p>
          <a:p>
            <a:pPr marL="898068" lvl="1" indent="-571500">
              <a:lnSpc>
                <a:spcPts val="4235"/>
              </a:lnSpc>
              <a:buFont typeface="Arial" panose="020B0604020202020204" pitchFamily="34" charset="0"/>
              <a:buChar char="•"/>
            </a:pPr>
            <a:r>
              <a:rPr lang="en-US" sz="4400" dirty="0">
                <a:latin typeface="Times New Roman" panose="02020603050405020304" pitchFamily="18" charset="0"/>
                <a:ea typeface="Poppins Italics"/>
                <a:cs typeface="Times New Roman" panose="02020603050405020304" pitchFamily="18" charset="0"/>
                <a:sym typeface="Poppins Italics"/>
              </a:rPr>
              <a:t>Engineered a macro-level SEASON feature to transition from granular daily data to high-level operational trends.</a:t>
            </a:r>
          </a:p>
          <a:p>
            <a:pPr algn="l">
              <a:lnSpc>
                <a:spcPts val="4235"/>
              </a:lnSpc>
            </a:pPr>
            <a:endParaRPr lang="en-US" sz="3025" i="1" dirty="0">
              <a:solidFill>
                <a:srgbClr val="545454"/>
              </a:solidFill>
              <a:latin typeface="Poppins Italics"/>
              <a:ea typeface="Poppins Italics"/>
              <a:cs typeface="Poppins Italics"/>
              <a:sym typeface="Poppins Italics"/>
            </a:endParaRPr>
          </a:p>
        </p:txBody>
      </p:sp>
      <p:sp>
        <p:nvSpPr>
          <p:cNvPr id="6" name="Freeform 6"/>
          <p:cNvSpPr/>
          <p:nvPr/>
        </p:nvSpPr>
        <p:spPr>
          <a:xfrm>
            <a:off x="457287" y="3118147"/>
            <a:ext cx="1765895" cy="2312481"/>
          </a:xfrm>
          <a:custGeom>
            <a:avLst/>
            <a:gdLst/>
            <a:ahLst/>
            <a:cxnLst/>
            <a:rect l="l" t="t" r="r" b="b"/>
            <a:pathLst>
              <a:path w="1765895" h="2312481">
                <a:moveTo>
                  <a:pt x="0" y="0"/>
                </a:moveTo>
                <a:lnTo>
                  <a:pt x="1765895" y="0"/>
                </a:lnTo>
                <a:lnTo>
                  <a:pt x="1765895" y="2312481"/>
                </a:lnTo>
                <a:lnTo>
                  <a:pt x="0" y="23124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pic>
        <p:nvPicPr>
          <p:cNvPr id="9" name="Picture 8" descr="The diagram illustrates a before-and-after comparison, showing the transition from fragmented, error-prone data to structured, duplicate-free data.&#10;&#10;AI-generated content may be incorrect.">
            <a:extLst>
              <a:ext uri="{FF2B5EF4-FFF2-40B4-BE49-F238E27FC236}">
                <a16:creationId xmlns:a16="http://schemas.microsoft.com/office/drawing/2014/main" id="{DAD47855-D18D-1819-DA8A-A5DD8D33497F}"/>
              </a:ext>
            </a:extLst>
          </p:cNvPr>
          <p:cNvPicPr>
            <a:picLocks noChangeAspect="1"/>
          </p:cNvPicPr>
          <p:nvPr/>
        </p:nvPicPr>
        <p:blipFill>
          <a:blip r:embed="rId4"/>
          <a:stretch>
            <a:fillRect/>
          </a:stretch>
        </p:blipFill>
        <p:spPr>
          <a:xfrm>
            <a:off x="12327392" y="4914900"/>
            <a:ext cx="5401429" cy="25244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2501710" y="3057596"/>
            <a:ext cx="12725400" cy="6463308"/>
          </a:xfrm>
          <a:prstGeom prst="rect">
            <a:avLst/>
          </a:prstGeom>
        </p:spPr>
        <p:txBody>
          <a:bodyPr wrap="square" lIns="0" tIns="0" rIns="0" bIns="0" rtlCol="0" anchor="t">
            <a:spAutoFit/>
          </a:bodyPr>
          <a:lstStyle/>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Summary statistics: Most flights arrive perfectly on time; extreme multi-hour delays are statistically rare but highly disruptive.</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Distribution analysis: DEP_DELAY and ARR_DELAY follow a strict, heavy-tailed Power Law distribution.</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Correlation findings: A near 1:1 direct mathematical correlation exists between Departure Delays and Arrival Delays.</a:t>
            </a:r>
          </a:p>
          <a:p>
            <a:pPr marL="571500" indent="-571500">
              <a:lnSpc>
                <a:spcPts val="4235"/>
              </a:lnSpc>
              <a:buFont typeface="Arial" panose="020B0604020202020204" pitchFamily="34" charset="0"/>
              <a:buChar char="•"/>
            </a:pPr>
            <a:endParaRPr lang="en-US" sz="3600" dirty="0">
              <a:latin typeface="Times New Roman" panose="02020603050405020304" pitchFamily="18" charset="0"/>
              <a:ea typeface="Poppins Italics"/>
              <a:cs typeface="Times New Roman" panose="02020603050405020304" pitchFamily="18" charset="0"/>
              <a:sym typeface="Poppins Italics"/>
            </a:endParaRPr>
          </a:p>
          <a:p>
            <a:pPr marL="571500" indent="-571500">
              <a:lnSpc>
                <a:spcPts val="4235"/>
              </a:lnSpc>
              <a:buFont typeface="Arial" panose="020B0604020202020204" pitchFamily="34" charset="0"/>
              <a:buChar char="•"/>
            </a:pPr>
            <a:r>
              <a:rPr lang="en-US" sz="3600" dirty="0">
                <a:latin typeface="Times New Roman" panose="02020603050405020304" pitchFamily="18" charset="0"/>
                <a:ea typeface="Poppins Italics"/>
                <a:cs typeface="Times New Roman" panose="02020603050405020304" pitchFamily="18" charset="0"/>
                <a:sym typeface="Poppins Italics"/>
              </a:rPr>
              <a:t>Key insights: Delay causes like Weather and National Airspace System (NAS) bottlenecks act independently and do not trigger one another</a:t>
            </a:r>
          </a:p>
        </p:txBody>
      </p:sp>
      <p:sp>
        <p:nvSpPr>
          <p:cNvPr id="6" name="Freeform 6"/>
          <p:cNvSpPr/>
          <p:nvPr/>
        </p:nvSpPr>
        <p:spPr>
          <a:xfrm>
            <a:off x="457287" y="3118147"/>
            <a:ext cx="1765895" cy="2312481"/>
          </a:xfrm>
          <a:custGeom>
            <a:avLst/>
            <a:gdLst/>
            <a:ahLst/>
            <a:cxnLst/>
            <a:rect l="l" t="t" r="r" b="b"/>
            <a:pathLst>
              <a:path w="1765895" h="2312481">
                <a:moveTo>
                  <a:pt x="0" y="0"/>
                </a:moveTo>
                <a:lnTo>
                  <a:pt x="1765895" y="0"/>
                </a:lnTo>
                <a:lnTo>
                  <a:pt x="1765895" y="2312481"/>
                </a:lnTo>
                <a:lnTo>
                  <a:pt x="0" y="23124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Results From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62279" y="3424008"/>
            <a:ext cx="2201327" cy="1929163"/>
          </a:xfrm>
          <a:custGeom>
            <a:avLst/>
            <a:gdLst/>
            <a:ahLst/>
            <a:cxnLst/>
            <a:rect l="l" t="t" r="r" b="b"/>
            <a:pathLst>
              <a:path w="2201327" h="1929163">
                <a:moveTo>
                  <a:pt x="0" y="0"/>
                </a:moveTo>
                <a:lnTo>
                  <a:pt x="2201327" y="0"/>
                </a:lnTo>
                <a:lnTo>
                  <a:pt x="2201327" y="1929163"/>
                </a:lnTo>
                <a:lnTo>
                  <a:pt x="0" y="1929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2895600" y="3044210"/>
            <a:ext cx="11582400" cy="7001917"/>
          </a:xfrm>
          <a:prstGeom prst="rect">
            <a:avLst/>
          </a:prstGeom>
        </p:spPr>
        <p:txBody>
          <a:bodyPr wrap="square" lIns="0" tIns="0" rIns="0" bIns="0" rtlCol="0" anchor="t">
            <a:spAutoFit/>
          </a:bodyPr>
          <a:lstStyle/>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Data quality improvements</a:t>
            </a:r>
            <a:r>
              <a:rPr lang="en-US" sz="4000" dirty="0">
                <a:latin typeface="Times New Roman" panose="02020603050405020304" pitchFamily="18" charset="0"/>
                <a:ea typeface="Poppins Italics"/>
                <a:cs typeface="Times New Roman" panose="02020603050405020304" pitchFamily="18" charset="0"/>
                <a:sym typeface="Poppins Italics"/>
              </a:rPr>
              <a:t>: Safely tamed massive outliers and successfully handled missing </a:t>
            </a:r>
            <a:r>
              <a:rPr lang="en-US" sz="4000" dirty="0" err="1">
                <a:latin typeface="Times New Roman" panose="02020603050405020304" pitchFamily="18" charset="0"/>
                <a:ea typeface="Poppins Italics"/>
                <a:cs typeface="Times New Roman" panose="02020603050405020304" pitchFamily="18" charset="0"/>
                <a:sym typeface="Poppins Italics"/>
              </a:rPr>
              <a:t>NaN</a:t>
            </a:r>
            <a:r>
              <a:rPr lang="en-US" sz="4000" dirty="0">
                <a:latin typeface="Times New Roman" panose="02020603050405020304" pitchFamily="18" charset="0"/>
                <a:ea typeface="Poppins Italics"/>
                <a:cs typeface="Times New Roman" panose="02020603050405020304" pitchFamily="18" charset="0"/>
                <a:sym typeface="Poppins Italics"/>
              </a:rPr>
              <a:t> values without losing valuable historical records.</a:t>
            </a:r>
          </a:p>
          <a:p>
            <a:pPr marL="457200" indent="-457200">
              <a:lnSpc>
                <a:spcPts val="4235"/>
              </a:lnSpc>
              <a:buFont typeface="Arial" panose="020B0604020202020204" pitchFamily="34" charset="0"/>
              <a:buChar char="•"/>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Key EDA findings: </a:t>
            </a:r>
            <a:r>
              <a:rPr lang="en-US" sz="4000" dirty="0">
                <a:latin typeface="Times New Roman" panose="02020603050405020304" pitchFamily="18" charset="0"/>
                <a:ea typeface="Poppins Italics"/>
                <a:cs typeface="Times New Roman" panose="02020603050405020304" pitchFamily="18" charset="0"/>
                <a:sym typeface="Poppins Italics"/>
              </a:rPr>
              <a:t>Bivariate density mapping (using alpha blending) proved that while late departures usually mean late arrivals, pilots frequently "make up time" in the air</a:t>
            </a:r>
          </a:p>
          <a:p>
            <a:pPr marL="457200" indent="-457200">
              <a:lnSpc>
                <a:spcPts val="4235"/>
              </a:lnSpc>
              <a:buFont typeface="Arial" panose="020B0604020202020204" pitchFamily="34" charset="0"/>
              <a:buChar char="•"/>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Dataset readiness status: </a:t>
            </a:r>
            <a:r>
              <a:rPr lang="en-US" sz="4000" dirty="0">
                <a:latin typeface="Times New Roman" panose="02020603050405020304" pitchFamily="18" charset="0"/>
                <a:ea typeface="Poppins Italics"/>
                <a:cs typeface="Times New Roman" panose="02020603050405020304" pitchFamily="18" charset="0"/>
                <a:sym typeface="Poppins Italics"/>
              </a:rPr>
              <a:t>The dataset has successfully bypassed the "Curse of Dimensionality" via smart Label Encoding, making it 100% scaled, un-skewed, and mathematically ready for Week 7.</a:t>
            </a:r>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Expected Final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303816" y="3187394"/>
            <a:ext cx="2395573" cy="2260550"/>
          </a:xfrm>
          <a:custGeom>
            <a:avLst/>
            <a:gdLst/>
            <a:ahLst/>
            <a:cxnLst/>
            <a:rect l="l" t="t" r="r" b="b"/>
            <a:pathLst>
              <a:path w="2395573" h="2260550">
                <a:moveTo>
                  <a:pt x="0" y="0"/>
                </a:moveTo>
                <a:lnTo>
                  <a:pt x="2395573" y="0"/>
                </a:lnTo>
                <a:lnTo>
                  <a:pt x="2395573" y="2260550"/>
                </a:lnTo>
                <a:lnTo>
                  <a:pt x="0" y="22605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6" name="Table 6"/>
          <p:cNvGraphicFramePr>
            <a:graphicFrameLocks noGrp="1"/>
          </p:cNvGraphicFramePr>
          <p:nvPr>
            <p:extLst>
              <p:ext uri="{D42A27DB-BD31-4B8C-83A1-F6EECF244321}">
                <p14:modId xmlns:p14="http://schemas.microsoft.com/office/powerpoint/2010/main" val="2711985388"/>
              </p:ext>
            </p:extLst>
          </p:nvPr>
        </p:nvGraphicFramePr>
        <p:xfrm>
          <a:off x="2971801" y="2930228"/>
          <a:ext cx="13354940" cy="6653436"/>
        </p:xfrm>
        <a:graphic>
          <a:graphicData uri="http://schemas.openxmlformats.org/drawingml/2006/table">
            <a:tbl>
              <a:tblPr/>
              <a:tblGrid>
                <a:gridCol w="7119235">
                  <a:extLst>
                    <a:ext uri="{9D8B030D-6E8A-4147-A177-3AD203B41FA5}">
                      <a16:colId xmlns:a16="http://schemas.microsoft.com/office/drawing/2014/main" val="20000"/>
                    </a:ext>
                  </a:extLst>
                </a:gridCol>
                <a:gridCol w="6235705">
                  <a:extLst>
                    <a:ext uri="{9D8B030D-6E8A-4147-A177-3AD203B41FA5}">
                      <a16:colId xmlns:a16="http://schemas.microsoft.com/office/drawing/2014/main" val="20001"/>
                    </a:ext>
                  </a:extLst>
                </a:gridCol>
              </a:tblGrid>
              <a:tr h="1331410">
                <a:tc>
                  <a:txBody>
                    <a:bodyPr/>
                    <a:lstStyle/>
                    <a:p>
                      <a:pPr algn="ctr">
                        <a:lnSpc>
                          <a:spcPts val="5039"/>
                        </a:lnSpc>
                        <a:defRPr/>
                      </a:pPr>
                      <a:r>
                        <a:rPr lang="en-US" sz="3599">
                          <a:solidFill>
                            <a:srgbClr val="000000"/>
                          </a:solidFill>
                          <a:latin typeface="Poppins"/>
                          <a:ea typeface="Poppins"/>
                          <a:cs typeface="Poppins"/>
                          <a:sym typeface="Poppins"/>
                        </a:rPr>
                        <a:t>Team Member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339"/>
                        </a:lnSpc>
                        <a:defRPr/>
                      </a:pPr>
                      <a:r>
                        <a:rPr lang="en-US" sz="3099">
                          <a:solidFill>
                            <a:srgbClr val="000000"/>
                          </a:solidFill>
                          <a:latin typeface="Poppins"/>
                          <a:ea typeface="Poppins"/>
                          <a:cs typeface="Poppins"/>
                          <a:sym typeface="Poppins"/>
                        </a:rPr>
                        <a:t>Roles &amp; Responsibilities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6658">
                <a:tc>
                  <a:txBody>
                    <a:bodyPr/>
                    <a:lstStyle/>
                    <a:p>
                      <a:pPr algn="ctr">
                        <a:lnSpc>
                          <a:spcPts val="2800"/>
                        </a:lnSpc>
                        <a:defRPr/>
                      </a:pPr>
                      <a:r>
                        <a:rPr lang="en-US" sz="4000" dirty="0"/>
                        <a:t>KARTHICK.N</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dirty="0"/>
                        <a:t>Feature Engineering Pipeline, Transformation Math (Cube Root/Scaling), and Error Debugging.</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17329">
                <a:tc>
                  <a:txBody>
                    <a:bodyPr/>
                    <a:lstStyle/>
                    <a:p>
                      <a:pPr algn="ctr">
                        <a:lnSpc>
                          <a:spcPts val="2800"/>
                        </a:lnSpc>
                        <a:defRPr/>
                      </a:pPr>
                      <a:r>
                        <a:rPr lang="en-US" sz="4000" dirty="0"/>
                        <a:t>MANOJ.M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800" dirty="0"/>
                        <a:t> Exploratory Data Analysis, Bivariate Density Plotting, and Seaborn Visualizations.</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09763">
                <a:tc>
                  <a:txBody>
                    <a:bodyPr/>
                    <a:lstStyle/>
                    <a:p>
                      <a:pPr algn="ctr">
                        <a:lnSpc>
                          <a:spcPts val="2800"/>
                        </a:lnSpc>
                        <a:defRPr/>
                      </a:pPr>
                      <a:r>
                        <a:rPr lang="en-US" sz="4000" dirty="0"/>
                        <a:t>NEHA.N.K</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100" dirty="0"/>
                        <a:t> </a:t>
                      </a:r>
                      <a:r>
                        <a:rPr lang="en-US" sz="2000" dirty="0"/>
                        <a:t>Data Cleaning, Outlier Capping, and Missing Value Imputation.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81908">
                <a:tc>
                  <a:txBody>
                    <a:bodyPr/>
                    <a:lstStyle/>
                    <a:p>
                      <a:pPr algn="ctr">
                        <a:lnSpc>
                          <a:spcPts val="2800"/>
                        </a:lnSpc>
                        <a:defRPr/>
                      </a:pPr>
                      <a:r>
                        <a:rPr lang="en-US" sz="4000" dirty="0"/>
                        <a:t>PRANESH.M</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r>
                        <a:rPr lang="en-US" sz="1800" dirty="0"/>
                        <a:t>Data Hunting, GitHub Repository Management, and Presentation Formatting.</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54064">
                <a:tc>
                  <a:txBody>
                    <a:bodyPr/>
                    <a:lstStyle/>
                    <a:p>
                      <a:pPr algn="ctr">
                        <a:lnSpc>
                          <a:spcPts val="280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0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Roles &amp; Responsibilities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33934" y="3093509"/>
            <a:ext cx="2249599" cy="2229148"/>
          </a:xfrm>
          <a:custGeom>
            <a:avLst/>
            <a:gdLst/>
            <a:ahLst/>
            <a:cxnLst/>
            <a:rect l="l" t="t" r="r" b="b"/>
            <a:pathLst>
              <a:path w="2249599" h="2229148">
                <a:moveTo>
                  <a:pt x="0" y="0"/>
                </a:moveTo>
                <a:lnTo>
                  <a:pt x="2249598" y="0"/>
                </a:lnTo>
                <a:lnTo>
                  <a:pt x="2249598" y="2229148"/>
                </a:lnTo>
                <a:lnTo>
                  <a:pt x="0" y="22291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 Challenges Faced</a:t>
            </a:r>
          </a:p>
        </p:txBody>
      </p:sp>
      <p:sp>
        <p:nvSpPr>
          <p:cNvPr id="8" name="TextBox 6">
            <a:extLst>
              <a:ext uri="{FF2B5EF4-FFF2-40B4-BE49-F238E27FC236}">
                <a16:creationId xmlns:a16="http://schemas.microsoft.com/office/drawing/2014/main" id="{B54E1CF7-AEBF-D3C5-5562-74CBCB2E867D}"/>
              </a:ext>
            </a:extLst>
          </p:cNvPr>
          <p:cNvSpPr txBox="1"/>
          <p:nvPr/>
        </p:nvSpPr>
        <p:spPr>
          <a:xfrm>
            <a:off x="2819400" y="2958510"/>
            <a:ext cx="13792200" cy="7001917"/>
          </a:xfrm>
          <a:prstGeom prst="rect">
            <a:avLst/>
          </a:prstGeom>
        </p:spPr>
        <p:txBody>
          <a:bodyPr wrap="square" lIns="0" tIns="0" rIns="0" bIns="0" rtlCol="0" anchor="t">
            <a:spAutoFit/>
          </a:bodyPr>
          <a:lstStyle/>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Data quality issues</a:t>
            </a:r>
            <a:r>
              <a:rPr lang="en-US" sz="4000" dirty="0">
                <a:latin typeface="Times New Roman" panose="02020603050405020304" pitchFamily="18" charset="0"/>
                <a:ea typeface="Poppins Italics"/>
                <a:cs typeface="Times New Roman" panose="02020603050405020304" pitchFamily="18" charset="0"/>
                <a:sym typeface="Poppins Italics"/>
              </a:rPr>
              <a:t>: Time columns were improperly formatted as text strings (HH:MM), crashing standard scalers until custom conversion logic was written.</a:t>
            </a:r>
          </a:p>
          <a:p>
            <a:pPr marL="457200" indent="-457200">
              <a:lnSpc>
                <a:spcPts val="4235"/>
              </a:lnSpc>
              <a:buFont typeface="Arial" panose="020B0604020202020204" pitchFamily="34" charset="0"/>
              <a:buChar char="•"/>
            </a:pPr>
            <a:endParaRPr lang="en-US" sz="4000" b="1"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Outliers: </a:t>
            </a:r>
            <a:r>
              <a:rPr lang="en-US" sz="4000" dirty="0">
                <a:latin typeface="Times New Roman" panose="02020603050405020304" pitchFamily="18" charset="0"/>
                <a:ea typeface="Poppins Italics"/>
                <a:cs typeface="Times New Roman" panose="02020603050405020304" pitchFamily="18" charset="0"/>
                <a:sym typeface="Poppins Italics"/>
              </a:rPr>
              <a:t>Standard visualization plots were completely illegible due to heavy right-tailed skewness (delays up to 24 hours).</a:t>
            </a:r>
          </a:p>
          <a:p>
            <a:pPr marL="457200" indent="-457200">
              <a:lnSpc>
                <a:spcPts val="4235"/>
              </a:lnSpc>
              <a:buFont typeface="Arial" panose="020B0604020202020204" pitchFamily="34" charset="0"/>
              <a:buChar char="•"/>
            </a:pPr>
            <a:endParaRPr lang="en-US" sz="4000"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Feature selection difficulty: </a:t>
            </a:r>
            <a:r>
              <a:rPr lang="en-US" sz="4000" dirty="0">
                <a:latin typeface="Times New Roman" panose="02020603050405020304" pitchFamily="18" charset="0"/>
                <a:ea typeface="Poppins Italics"/>
                <a:cs typeface="Times New Roman" panose="02020603050405020304" pitchFamily="18" charset="0"/>
                <a:sym typeface="Poppins Italics"/>
              </a:rPr>
              <a:t>Trying to One-Hot Encode 300+ US airports created a 1,062-column dataset that risked crashing the system's RAM.</a:t>
            </a:r>
          </a:p>
          <a:p>
            <a:pPr marL="457200" indent="-457200">
              <a:lnSpc>
                <a:spcPts val="4235"/>
              </a:lnSpc>
              <a:buFont typeface="Arial" panose="020B0604020202020204" pitchFamily="34" charset="0"/>
              <a:buChar char="•"/>
            </a:pPr>
            <a:endParaRPr lang="en-US" sz="4000" b="1" dirty="0">
              <a:latin typeface="Times New Roman" panose="02020603050405020304" pitchFamily="18" charset="0"/>
              <a:ea typeface="Poppins Italics"/>
              <a:cs typeface="Times New Roman" panose="02020603050405020304" pitchFamily="18" charset="0"/>
              <a:sym typeface="Poppins Italics"/>
            </a:endParaRPr>
          </a:p>
          <a:p>
            <a:pPr marL="457200" indent="-457200">
              <a:lnSpc>
                <a:spcPts val="4235"/>
              </a:lnSpc>
              <a:buFont typeface="Arial" panose="020B0604020202020204" pitchFamily="34" charset="0"/>
              <a:buChar char="•"/>
            </a:pPr>
            <a:r>
              <a:rPr lang="en-US" sz="4000" b="1" dirty="0">
                <a:latin typeface="Times New Roman" panose="02020603050405020304" pitchFamily="18" charset="0"/>
                <a:ea typeface="Poppins Italics"/>
                <a:cs typeface="Times New Roman" panose="02020603050405020304" pitchFamily="18" charset="0"/>
                <a:sym typeface="Poppins Italics"/>
              </a:rPr>
              <a:t>Overplotting: </a:t>
            </a:r>
            <a:r>
              <a:rPr lang="en-US" sz="4000" dirty="0">
                <a:latin typeface="Times New Roman" panose="02020603050405020304" pitchFamily="18" charset="0"/>
                <a:ea typeface="Poppins Italics"/>
                <a:cs typeface="Times New Roman" panose="02020603050405020304" pitchFamily="18" charset="0"/>
                <a:sym typeface="Poppins Italics"/>
              </a:rPr>
              <a:t>Standard scatter plots turned into solid blocks of color due to plotting 1.7 million overlapping points..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576841"/>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229502" y="3093509"/>
            <a:ext cx="2186679" cy="2434562"/>
          </a:xfrm>
          <a:custGeom>
            <a:avLst/>
            <a:gdLst/>
            <a:ahLst/>
            <a:cxnLst/>
            <a:rect l="l" t="t" r="r" b="b"/>
            <a:pathLst>
              <a:path w="2186679" h="2434562">
                <a:moveTo>
                  <a:pt x="0" y="0"/>
                </a:moveTo>
                <a:lnTo>
                  <a:pt x="2186679" y="0"/>
                </a:lnTo>
                <a:lnTo>
                  <a:pt x="2186679" y="2434562"/>
                </a:lnTo>
                <a:lnTo>
                  <a:pt x="0" y="24345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Future Work &amp; Conclusion</a:t>
            </a:r>
          </a:p>
        </p:txBody>
      </p:sp>
      <p:sp>
        <p:nvSpPr>
          <p:cNvPr id="8" name="TextBox 7">
            <a:extLst>
              <a:ext uri="{FF2B5EF4-FFF2-40B4-BE49-F238E27FC236}">
                <a16:creationId xmlns:a16="http://schemas.microsoft.com/office/drawing/2014/main" id="{CFE2F1F7-D68B-225C-1843-E2FA7267C8DA}"/>
              </a:ext>
            </a:extLst>
          </p:cNvPr>
          <p:cNvSpPr txBox="1"/>
          <p:nvPr/>
        </p:nvSpPr>
        <p:spPr>
          <a:xfrm>
            <a:off x="2667000" y="3637773"/>
            <a:ext cx="14370412" cy="5632311"/>
          </a:xfrm>
          <a:prstGeom prst="rect">
            <a:avLst/>
          </a:prstGeom>
          <a:noFill/>
        </p:spPr>
        <p:txBody>
          <a:bodyPr wrap="square">
            <a:spAutoFit/>
          </a:bodyPr>
          <a:lstStyle/>
          <a:p>
            <a:r>
              <a:rPr lang="en-IN" sz="4000" b="1" dirty="0"/>
              <a:t>Future Work: </a:t>
            </a:r>
            <a:r>
              <a:rPr lang="en-IN" sz="4000" dirty="0"/>
              <a:t>Next week involves dropping redundant categorical text columns to execute Principal Component Analysis (PCA) safely. Following that, we will integrate our EDA visuals into a fully interactive </a:t>
            </a:r>
            <a:r>
              <a:rPr lang="en-IN" sz="4000" dirty="0" err="1"/>
              <a:t>Streamlit</a:t>
            </a:r>
            <a:r>
              <a:rPr lang="en-IN" sz="4000" dirty="0"/>
              <a:t> web dashboard.</a:t>
            </a:r>
          </a:p>
          <a:p>
            <a:endParaRPr lang="en-IN" sz="4000" dirty="0"/>
          </a:p>
          <a:p>
            <a:r>
              <a:rPr lang="en-IN" sz="4000" b="1" dirty="0"/>
              <a:t>Conclusion: </a:t>
            </a:r>
            <a:r>
              <a:rPr lang="en-IN" sz="4000" dirty="0"/>
              <a:t>We have successfully transitioned our project from descriptive statistics into advanced mathematical preparation. The dataset is no longer just raw flight logs; it is a stable, scaled foundation ready for complex Unsupervised Learning algorithms.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FFF"/>
        </a:solidFill>
        <a:effectLst/>
      </p:bgPr>
    </p:bg>
    <p:spTree>
      <p:nvGrpSpPr>
        <p:cNvPr id="1" name=""/>
        <p:cNvGrpSpPr/>
        <p:nvPr/>
      </p:nvGrpSpPr>
      <p:grpSpPr>
        <a:xfrm>
          <a:off x="0" y="0"/>
          <a:ext cx="0" cy="0"/>
          <a:chOff x="0" y="0"/>
          <a:chExt cx="0" cy="0"/>
        </a:xfrm>
      </p:grpSpPr>
      <p:grpSp>
        <p:nvGrpSpPr>
          <p:cNvPr id="2" name="Group 2"/>
          <p:cNvGrpSpPr/>
          <p:nvPr/>
        </p:nvGrpSpPr>
        <p:grpSpPr>
          <a:xfrm>
            <a:off x="0" y="266700"/>
            <a:ext cx="18288000" cy="2058570"/>
            <a:chOff x="0" y="0"/>
            <a:chExt cx="3738189" cy="420785"/>
          </a:xfrm>
        </p:grpSpPr>
        <p:sp>
          <p:nvSpPr>
            <p:cNvPr id="3" name="Freeform 3"/>
            <p:cNvSpPr/>
            <p:nvPr/>
          </p:nvSpPr>
          <p:spPr>
            <a:xfrm>
              <a:off x="0" y="0"/>
              <a:ext cx="3738189" cy="420785"/>
            </a:xfrm>
            <a:custGeom>
              <a:avLst/>
              <a:gdLst/>
              <a:ahLst/>
              <a:cxnLst/>
              <a:rect l="l" t="t" r="r" b="b"/>
              <a:pathLst>
                <a:path w="3738189" h="420785">
                  <a:moveTo>
                    <a:pt x="3534989" y="0"/>
                  </a:moveTo>
                  <a:lnTo>
                    <a:pt x="0" y="0"/>
                  </a:lnTo>
                  <a:lnTo>
                    <a:pt x="0" y="420785"/>
                  </a:lnTo>
                  <a:lnTo>
                    <a:pt x="3534989" y="420785"/>
                  </a:lnTo>
                  <a:lnTo>
                    <a:pt x="3738189" y="210393"/>
                  </a:lnTo>
                  <a:lnTo>
                    <a:pt x="3534989" y="0"/>
                  </a:lnTo>
                  <a:close/>
                </a:path>
              </a:pathLst>
            </a:custGeom>
            <a:solidFill>
              <a:srgbClr val="112D63"/>
            </a:solidFill>
            <a:ln w="19050" cap="sq">
              <a:solidFill>
                <a:srgbClr val="112D63"/>
              </a:solidFill>
              <a:prstDash val="solid"/>
              <a:miter/>
            </a:ln>
          </p:spPr>
          <p:txBody>
            <a:bodyPr/>
            <a:lstStyle/>
            <a:p>
              <a:endParaRPr lang="en-IN"/>
            </a:p>
          </p:txBody>
        </p:sp>
        <p:sp>
          <p:nvSpPr>
            <p:cNvPr id="4" name="TextBox 4"/>
            <p:cNvSpPr txBox="1"/>
            <p:nvPr/>
          </p:nvSpPr>
          <p:spPr>
            <a:xfrm>
              <a:off x="0" y="-66675"/>
              <a:ext cx="3623889" cy="487460"/>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1054565" y="985640"/>
            <a:ext cx="16178870" cy="1069521"/>
          </a:xfrm>
          <a:prstGeom prst="rect">
            <a:avLst/>
          </a:prstGeom>
        </p:spPr>
        <p:txBody>
          <a:bodyPr lIns="0" tIns="0" rIns="0" bIns="0" rtlCol="0" anchor="t">
            <a:spAutoFit/>
          </a:bodyPr>
          <a:lstStyle/>
          <a:p>
            <a:pPr algn="ctr">
              <a:lnSpc>
                <a:spcPts val="8250"/>
              </a:lnSpc>
              <a:spcBef>
                <a:spcPct val="0"/>
              </a:spcBef>
            </a:pPr>
            <a:r>
              <a:rPr lang="en-US" sz="5892" b="1">
                <a:solidFill>
                  <a:srgbClr val="FFFFFF"/>
                </a:solidFill>
                <a:latin typeface="Poppins Bold"/>
                <a:ea typeface="Poppins Bold"/>
                <a:cs typeface="Poppins Bold"/>
                <a:sym typeface="Poppins Bold"/>
              </a:rPr>
              <a:t>References</a:t>
            </a:r>
          </a:p>
        </p:txBody>
      </p:sp>
      <p:sp>
        <p:nvSpPr>
          <p:cNvPr id="6" name="TextBox 5">
            <a:extLst>
              <a:ext uri="{FF2B5EF4-FFF2-40B4-BE49-F238E27FC236}">
                <a16:creationId xmlns:a16="http://schemas.microsoft.com/office/drawing/2014/main" id="{924FB7ED-4A29-F53C-524B-D3E78E28D528}"/>
              </a:ext>
            </a:extLst>
          </p:cNvPr>
          <p:cNvSpPr txBox="1"/>
          <p:nvPr/>
        </p:nvSpPr>
        <p:spPr>
          <a:xfrm>
            <a:off x="2133600" y="3086100"/>
            <a:ext cx="13335000" cy="5638800"/>
          </a:xfrm>
          <a:prstGeom prst="rect">
            <a:avLst/>
          </a:prstGeom>
          <a:noFill/>
        </p:spPr>
        <p:txBody>
          <a:bodyPr wrap="square" rtlCol="0">
            <a:spAutoFit/>
          </a:bodyPr>
          <a:lstStyle/>
          <a:p>
            <a:endParaRPr lang="en-IN" dirty="0"/>
          </a:p>
        </p:txBody>
      </p:sp>
      <p:sp>
        <p:nvSpPr>
          <p:cNvPr id="7" name="Rectangle 1">
            <a:extLst>
              <a:ext uri="{FF2B5EF4-FFF2-40B4-BE49-F238E27FC236}">
                <a16:creationId xmlns:a16="http://schemas.microsoft.com/office/drawing/2014/main" id="{C59A02FC-E553-41DD-5A66-71C29F52ACE6}"/>
              </a:ext>
            </a:extLst>
          </p:cNvPr>
          <p:cNvSpPr>
            <a:spLocks noChangeArrowheads="1"/>
          </p:cNvSpPr>
          <p:nvPr/>
        </p:nvSpPr>
        <p:spPr bwMode="auto">
          <a:xfrm rot="10800000" flipV="1">
            <a:off x="1676400" y="3238499"/>
            <a:ext cx="13944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Kaggle – Flight Delay Dataset Repository</a:t>
            </a:r>
          </a:p>
          <a:p>
            <a:pPr eaLnBrk="0" fontAlgn="base" hangingPunct="0">
              <a:spcBef>
                <a:spcPct val="0"/>
              </a:spcBef>
              <a:spcAft>
                <a:spcPct val="0"/>
              </a:spcAft>
            </a:pPr>
            <a:r>
              <a:rPr lang="en-US" sz="3200" dirty="0">
                <a:latin typeface="Times New Roman" panose="02020603050405020304" pitchFamily="18" charset="0"/>
                <a:ea typeface="Poppins Italics"/>
                <a:cs typeface="Times New Roman" panose="02020603050405020304" pitchFamily="18" charset="0"/>
                <a:sym typeface="Poppins Italics"/>
                <a:hlinkClick r:id="rId3"/>
              </a:rPr>
              <a:t>https://www.kaggle.com/datasets/karthick564/flight-delay-analaysis-cleaned</a:t>
            </a:r>
            <a:endParaRPr lang="en-US" sz="3200" dirty="0">
              <a:latin typeface="Arial" panose="020B0604020202020204" pitchFamily="34" charset="0"/>
              <a:ea typeface="Poppins Italics"/>
              <a:cs typeface="Times New Roman" panose="02020603050405020304" pitchFamily="18" charset="0"/>
              <a:sym typeface="Poppins Italics"/>
            </a:endParaRPr>
          </a:p>
          <a:p>
            <a:pPr eaLnBrk="0" fontAlgn="base" hangingPunct="0">
              <a:spcBef>
                <a:spcPct val="0"/>
              </a:spcBef>
              <a:spcAft>
                <a:spcPct val="0"/>
              </a:spcAft>
            </a:pPr>
            <a:r>
              <a:rPr kumimoji="0" lang="en-US" altLang="en-US" sz="3200" b="1" i="0" u="none" strike="noStrike" cap="none" normalizeH="0" baseline="0" dirty="0">
                <a:ln>
                  <a:noFill/>
                </a:ln>
                <a:solidFill>
                  <a:schemeClr val="tx1"/>
                </a:solidFill>
                <a:effectLst/>
                <a:latin typeface="Arial" panose="020B0604020202020204" pitchFamily="34" charset="0"/>
              </a:rPr>
              <a:t>Scikit-learn Documentation – Machine Learning &amp; PCA Techniques</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hlinkClick r:id="rId4"/>
              </a:rPr>
              <a:t>https://scikit-learn.org/stable/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Pandas Documentation – Data Cleaning and Data Manipulation</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hlinkClick r:id="rId5"/>
              </a:rPr>
              <a:t>https://pandas.pydata.org/docs/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latin typeface="Arial" panose="020B0604020202020204" pitchFamily="34" charset="0"/>
              </a:rPr>
              <a:t>Seaborn &amp; Matplotlib Documentation – Data Visualization Libraries</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hlinkClick r:id="rId6"/>
              </a:rPr>
              <a:t>https://seaborn.pydata.org/</a:t>
            </a:r>
            <a:br>
              <a:rPr kumimoji="0" lang="en-US" altLang="en-US" sz="3200" b="0" i="0" u="none" strike="noStrike" cap="none" normalizeH="0" baseline="0" dirty="0">
                <a:ln>
                  <a:noFill/>
                </a:ln>
                <a:solidFill>
                  <a:schemeClr val="tx1"/>
                </a:solidFill>
                <a:effectLst/>
                <a:latin typeface="Arial" panose="020B0604020202020204" pitchFamily="34" charset="0"/>
              </a:rPr>
            </a:br>
            <a:r>
              <a:rPr kumimoji="0" lang="en-US" altLang="en-US" sz="3200" b="0" i="0" u="none" strike="noStrike" cap="none" normalizeH="0" baseline="0" dirty="0">
                <a:ln>
                  <a:noFill/>
                </a:ln>
                <a:solidFill>
                  <a:schemeClr val="tx1"/>
                </a:solidFill>
                <a:effectLst/>
                <a:latin typeface="Arial" panose="020B0604020202020204" pitchFamily="34" charset="0"/>
                <a:hlinkClick r:id="rId7"/>
              </a:rPr>
              <a:t>https://matplotlib.org/</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A0D721F109FD499D01339046B37967" ma:contentTypeVersion="10" ma:contentTypeDescription="Create a new document." ma:contentTypeScope="" ma:versionID="53b57ae1d3df3814263adef770592410">
  <xsd:schema xmlns:xsd="http://www.w3.org/2001/XMLSchema" xmlns:xs="http://www.w3.org/2001/XMLSchema" xmlns:p="http://schemas.microsoft.com/office/2006/metadata/properties" xmlns:ns2="d75b73e7-722c-4013-b0ab-557461f00139" xmlns:ns3="123cd861-5ec8-471f-a092-4a549bd61773" targetNamespace="http://schemas.microsoft.com/office/2006/metadata/properties" ma:root="true" ma:fieldsID="baf14b263cf4181c4b33c184c49c1c33" ns2:_="" ns3:_="">
    <xsd:import namespace="d75b73e7-722c-4013-b0ab-557461f00139"/>
    <xsd:import namespace="123cd861-5ec8-471f-a092-4a549bd6177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5b73e7-722c-4013-b0ab-557461f001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ea1b0d9-6ead-405e-a20d-02fb1ff6912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23cd861-5ec8-471f-a092-4a549bd6177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4dd7167-364e-43c9-a7c0-0138357b1e9c}" ma:internalName="TaxCatchAll" ma:showField="CatchAllData" ma:web="123cd861-5ec8-471f-a092-4a549bd6177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75b73e7-722c-4013-b0ab-557461f00139">
      <Terms xmlns="http://schemas.microsoft.com/office/infopath/2007/PartnerControls"/>
    </lcf76f155ced4ddcb4097134ff3c332f>
    <TaxCatchAll xmlns="123cd861-5ec8-471f-a092-4a549bd61773" xsi:nil="true"/>
  </documentManagement>
</p:properties>
</file>

<file path=customXml/itemProps1.xml><?xml version="1.0" encoding="utf-8"?>
<ds:datastoreItem xmlns:ds="http://schemas.openxmlformats.org/officeDocument/2006/customXml" ds:itemID="{1BD0EC1C-73E4-414B-BED7-6F79C9CCBB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5b73e7-722c-4013-b0ab-557461f00139"/>
    <ds:schemaRef ds:uri="123cd861-5ec8-471f-a092-4a549bd617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3E3D7C-5C3D-4B60-9674-3050C6F34FEA}">
  <ds:schemaRefs>
    <ds:schemaRef ds:uri="http://schemas.microsoft.com/sharepoint/v3/contenttype/forms"/>
  </ds:schemaRefs>
</ds:datastoreItem>
</file>

<file path=customXml/itemProps3.xml><?xml version="1.0" encoding="utf-8"?>
<ds:datastoreItem xmlns:ds="http://schemas.openxmlformats.org/officeDocument/2006/customXml" ds:itemID="{5578F222-1B32-4B85-AB90-876A769BC140}">
  <ds:schemaRefs>
    <ds:schemaRef ds:uri="http://schemas.microsoft.com/office/2006/metadata/properties"/>
    <ds:schemaRef ds:uri="http://schemas.microsoft.com/office/infopath/2007/PartnerControls"/>
    <ds:schemaRef ds:uri="d75b73e7-722c-4013-b0ab-557461f00139"/>
    <ds:schemaRef ds:uri="123cd861-5ec8-471f-a092-4a549bd61773"/>
  </ds:schemaRefs>
</ds:datastoreItem>
</file>

<file path=docProps/app.xml><?xml version="1.0" encoding="utf-8"?>
<Properties xmlns="http://schemas.openxmlformats.org/officeDocument/2006/extended-properties" xmlns:vt="http://schemas.openxmlformats.org/officeDocument/2006/docPropsVTypes">
  <TotalTime>110</TotalTime>
  <Words>992</Words>
  <Application>Microsoft Office PowerPoint</Application>
  <PresentationFormat>Custom</PresentationFormat>
  <Paragraphs>95</Paragraphs>
  <Slides>13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vt:lpstr>
      <vt:lpstr>Poppins Bold Italics</vt:lpstr>
      <vt:lpstr>Calibri</vt:lpstr>
      <vt:lpstr>Arial</vt:lpstr>
      <vt:lpstr>Poppins</vt:lpstr>
      <vt:lpstr>Times New Roman</vt:lpstr>
      <vt:lpstr>Times New Roman Bold</vt:lpstr>
      <vt:lpstr>Poppins Italics</vt:lpstr>
      <vt:lpstr>Poppins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Visualization 24ADI204</dc:title>
  <cp:lastModifiedBy>Karthick N 24BAD055</cp:lastModifiedBy>
  <cp:revision>5</cp:revision>
  <dcterms:created xsi:type="dcterms:W3CDTF">2006-08-16T00:00:00Z</dcterms:created>
  <dcterms:modified xsi:type="dcterms:W3CDTF">2026-03-10T03:13:53Z</dcterms:modified>
  <dc:identifier>DAHC23RksKI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0x01010067A0D721F109FD499D01339046B37967</vt:lpwstr>
  </property>
</Properties>
</file>