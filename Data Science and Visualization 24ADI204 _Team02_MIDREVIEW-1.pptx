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71" r:id="rId12"/>
    <p:sldId id="270" r:id="rId13"/>
    <p:sldId id="272" r:id="rId14"/>
    <p:sldId id="273" r:id="rId15"/>
    <p:sldId id="269" r:id="rId16"/>
    <p:sldId id="263" r:id="rId17"/>
    <p:sldId id="264" r:id="rId18"/>
    <p:sldId id="265" r:id="rId19"/>
    <p:sldId id="266" r:id="rId20"/>
    <p:sldId id="267" r:id="rId21"/>
    <p:sldId id="268" r:id="rId22"/>
  </p:sldIdLst>
  <p:sldSz cx="18288000" cy="10287000"/>
  <p:notesSz cx="6858000" cy="9144000"/>
  <p:embeddedFontLst>
    <p:embeddedFont>
      <p:font typeface="Poppins" panose="00000500000000000000" pitchFamily="2" charset="0"/>
      <p:regular r:id="rId24"/>
    </p:embeddedFont>
    <p:embeddedFont>
      <p:font typeface="Poppins Bold" panose="00000800000000000000" charset="0"/>
      <p:regular r:id="rId25"/>
    </p:embeddedFont>
    <p:embeddedFont>
      <p:font typeface="Poppins Bold Italics" panose="020B0604020202020204" charset="0"/>
      <p:regular r:id="rId26"/>
    </p:embeddedFont>
    <p:embeddedFont>
      <p:font typeface="Poppins Italics" panose="020B0604020202020204" charset="0"/>
      <p:regular r:id="rId27"/>
    </p:embeddedFont>
    <p:embeddedFont>
      <p:font typeface="Times New Roman Bold" panose="02020803070505020304" pitchFamily="18"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CCA08-E5A4-4902-BAB7-B938576A6A3A}"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34E3E8-EF4B-4478-A50B-FBB28855B0B2}" type="slidenum">
              <a:rPr lang="en-IN" smtClean="0"/>
              <a:t>‹#›</a:t>
            </a:fld>
            <a:endParaRPr lang="en-IN"/>
          </a:p>
        </p:txBody>
      </p:sp>
    </p:spTree>
    <p:extLst>
      <p:ext uri="{BB962C8B-B14F-4D97-AF65-F5344CB8AC3E}">
        <p14:creationId xmlns:p14="http://schemas.microsoft.com/office/powerpoint/2010/main" val="168661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5</a:t>
            </a:fld>
            <a:endParaRPr lang="en-IN"/>
          </a:p>
        </p:txBody>
      </p:sp>
    </p:spTree>
    <p:extLst>
      <p:ext uri="{BB962C8B-B14F-4D97-AF65-F5344CB8AC3E}">
        <p14:creationId xmlns:p14="http://schemas.microsoft.com/office/powerpoint/2010/main" val="1923667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13</a:t>
            </a:fld>
            <a:endParaRPr lang="en-IN"/>
          </a:p>
        </p:txBody>
      </p:sp>
    </p:spTree>
    <p:extLst>
      <p:ext uri="{BB962C8B-B14F-4D97-AF65-F5344CB8AC3E}">
        <p14:creationId xmlns:p14="http://schemas.microsoft.com/office/powerpoint/2010/main" val="2878042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18</a:t>
            </a:fld>
            <a:endParaRPr lang="en-IN"/>
          </a:p>
        </p:txBody>
      </p:sp>
    </p:spTree>
    <p:extLst>
      <p:ext uri="{BB962C8B-B14F-4D97-AF65-F5344CB8AC3E}">
        <p14:creationId xmlns:p14="http://schemas.microsoft.com/office/powerpoint/2010/main" val="1887969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karthick564/flight-delay-analaysis-cleaned" TargetMode="External"/><Relationship Id="rId7" Type="http://schemas.openxmlformats.org/officeDocument/2006/relationships/hyperlink" Target="https://matplotlib.org/"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seaborn.pydata.org/" TargetMode="External"/><Relationship Id="rId5" Type="http://schemas.openxmlformats.org/officeDocument/2006/relationships/hyperlink" Target="https://pandas.pydata.org/docs/" TargetMode="External"/><Relationship Id="rId4" Type="http://schemas.openxmlformats.org/officeDocument/2006/relationships/hyperlink" Target="https://scikit-learn.org/stab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sp>
        <p:nvSpPr>
          <p:cNvPr id="2" name="Freeform 2"/>
          <p:cNvSpPr/>
          <p:nvPr/>
        </p:nvSpPr>
        <p:spPr>
          <a:xfrm>
            <a:off x="605111" y="512125"/>
            <a:ext cx="2488943" cy="2529537"/>
          </a:xfrm>
          <a:custGeom>
            <a:avLst/>
            <a:gdLst/>
            <a:ahLst/>
            <a:cxnLst/>
            <a:rect l="l" t="t" r="r" b="b"/>
            <a:pathLst>
              <a:path w="2488943" h="2529537">
                <a:moveTo>
                  <a:pt x="0" y="0"/>
                </a:moveTo>
                <a:lnTo>
                  <a:pt x="2488944" y="0"/>
                </a:lnTo>
                <a:lnTo>
                  <a:pt x="2488944" y="2529538"/>
                </a:lnTo>
                <a:lnTo>
                  <a:pt x="0" y="2529538"/>
                </a:lnTo>
                <a:lnTo>
                  <a:pt x="0" y="0"/>
                </a:lnTo>
                <a:close/>
              </a:path>
            </a:pathLst>
          </a:custGeom>
          <a:blipFill>
            <a:blip r:embed="rId2"/>
            <a:stretch>
              <a:fillRect l="-15070" t="-4622" r="-22184" b="-2965"/>
            </a:stretch>
          </a:blipFill>
        </p:spPr>
        <p:txBody>
          <a:bodyPr/>
          <a:lstStyle/>
          <a:p>
            <a:endParaRPr lang="en-IN"/>
          </a:p>
        </p:txBody>
      </p:sp>
      <p:sp>
        <p:nvSpPr>
          <p:cNvPr id="3" name="Freeform 3"/>
          <p:cNvSpPr/>
          <p:nvPr/>
        </p:nvSpPr>
        <p:spPr>
          <a:xfrm>
            <a:off x="13930705" y="658452"/>
            <a:ext cx="4049893" cy="1883200"/>
          </a:xfrm>
          <a:custGeom>
            <a:avLst/>
            <a:gdLst/>
            <a:ahLst/>
            <a:cxnLst/>
            <a:rect l="l" t="t" r="r" b="b"/>
            <a:pathLst>
              <a:path w="4049893" h="1883200">
                <a:moveTo>
                  <a:pt x="0" y="0"/>
                </a:moveTo>
                <a:lnTo>
                  <a:pt x="4049893" y="0"/>
                </a:lnTo>
                <a:lnTo>
                  <a:pt x="4049893" y="1883200"/>
                </a:lnTo>
                <a:lnTo>
                  <a:pt x="0" y="18832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3231061" y="534627"/>
            <a:ext cx="11180668" cy="2507036"/>
          </a:xfrm>
          <a:prstGeom prst="rect">
            <a:avLst/>
          </a:prstGeom>
        </p:spPr>
        <p:txBody>
          <a:bodyPr lIns="0" tIns="0" rIns="0" bIns="0" rtlCol="0" anchor="t">
            <a:spAutoFit/>
          </a:bodyPr>
          <a:lstStyle/>
          <a:p>
            <a:pPr algn="ctr">
              <a:lnSpc>
                <a:spcPts val="6996"/>
              </a:lnSpc>
            </a:pPr>
            <a:r>
              <a:rPr lang="en-US" sz="4997" b="1" dirty="0">
                <a:solidFill>
                  <a:srgbClr val="000000"/>
                </a:solidFill>
                <a:latin typeface="Times New Roman Bold"/>
                <a:ea typeface="Times New Roman Bold"/>
                <a:cs typeface="Times New Roman Bold"/>
                <a:sym typeface="Times New Roman Bold"/>
              </a:rPr>
              <a:t>Artificial Intelligence and Data Science</a:t>
            </a:r>
          </a:p>
          <a:p>
            <a:pPr algn="ctr">
              <a:lnSpc>
                <a:spcPts val="6436"/>
              </a:lnSpc>
              <a:spcBef>
                <a:spcPct val="0"/>
              </a:spcBef>
            </a:pPr>
            <a:r>
              <a:rPr lang="en-US" sz="4597" b="1" dirty="0">
                <a:solidFill>
                  <a:srgbClr val="000000"/>
                </a:solidFill>
                <a:latin typeface="Times New Roman Bold"/>
                <a:ea typeface="Times New Roman Bold"/>
                <a:cs typeface="Times New Roman Bold"/>
                <a:sym typeface="Times New Roman Bold"/>
              </a:rPr>
              <a:t>Data Science and Visualization</a:t>
            </a:r>
          </a:p>
          <a:p>
            <a:pPr algn="ctr">
              <a:lnSpc>
                <a:spcPts val="6436"/>
              </a:lnSpc>
              <a:spcBef>
                <a:spcPct val="0"/>
              </a:spcBef>
            </a:pPr>
            <a:r>
              <a:rPr lang="en-US" sz="4597" b="1" dirty="0">
                <a:solidFill>
                  <a:srgbClr val="000000"/>
                </a:solidFill>
                <a:latin typeface="Times New Roman Bold"/>
                <a:ea typeface="Times New Roman Bold"/>
                <a:cs typeface="Times New Roman Bold"/>
                <a:sym typeface="Times New Roman Bold"/>
              </a:rPr>
              <a:t>24ADI204</a:t>
            </a:r>
          </a:p>
        </p:txBody>
      </p:sp>
      <p:sp>
        <p:nvSpPr>
          <p:cNvPr id="5" name="TextBox 5"/>
          <p:cNvSpPr txBox="1"/>
          <p:nvPr/>
        </p:nvSpPr>
        <p:spPr>
          <a:xfrm>
            <a:off x="3519804" y="3412505"/>
            <a:ext cx="10410901" cy="1262092"/>
          </a:xfrm>
          <a:prstGeom prst="rect">
            <a:avLst/>
          </a:prstGeom>
        </p:spPr>
        <p:txBody>
          <a:bodyPr lIns="0" tIns="0" rIns="0" bIns="0" rtlCol="0" anchor="t">
            <a:spAutoFit/>
          </a:bodyPr>
          <a:lstStyle/>
          <a:p>
            <a:pPr algn="ctr">
              <a:lnSpc>
                <a:spcPts val="4985"/>
              </a:lnSpc>
            </a:pPr>
            <a:r>
              <a:rPr lang="en-US" sz="3561" b="1" dirty="0">
                <a:solidFill>
                  <a:srgbClr val="000000"/>
                </a:solidFill>
                <a:latin typeface="Times New Roman" panose="02020603050405020304" pitchFamily="18" charset="0"/>
                <a:ea typeface="Poppins Bold Italics"/>
                <a:cs typeface="Times New Roman" panose="02020603050405020304" pitchFamily="18" charset="0"/>
                <a:sym typeface="Poppins Bold Italics"/>
              </a:rPr>
              <a:t>DATA-VIZ HACK-A-BIT (2025-2026) </a:t>
            </a:r>
          </a:p>
          <a:p>
            <a:pPr algn="ctr">
              <a:lnSpc>
                <a:spcPts val="4985"/>
              </a:lnSpc>
              <a:spcBef>
                <a:spcPct val="0"/>
              </a:spcBef>
            </a:pPr>
            <a:endParaRPr lang="en-US" sz="3561" b="1" i="1" dirty="0">
              <a:solidFill>
                <a:srgbClr val="000000"/>
              </a:solidFill>
              <a:latin typeface="Poppins Bold Italics"/>
              <a:ea typeface="Poppins Bold Italics"/>
              <a:cs typeface="Poppins Bold Italics"/>
              <a:sym typeface="Poppins Bold Italics"/>
            </a:endParaRPr>
          </a:p>
        </p:txBody>
      </p:sp>
      <p:sp>
        <p:nvSpPr>
          <p:cNvPr id="6" name="TextBox 6"/>
          <p:cNvSpPr txBox="1"/>
          <p:nvPr/>
        </p:nvSpPr>
        <p:spPr>
          <a:xfrm>
            <a:off x="6008777" y="5507337"/>
            <a:ext cx="4887823" cy="620426"/>
          </a:xfrm>
          <a:prstGeom prst="rect">
            <a:avLst/>
          </a:prstGeom>
        </p:spPr>
        <p:txBody>
          <a:bodyPr wrap="square" lIns="0" tIns="0" rIns="0" bIns="0" rtlCol="0" anchor="t">
            <a:spAutoFit/>
          </a:bodyPr>
          <a:lstStyle/>
          <a:p>
            <a:pPr algn="ctr">
              <a:lnSpc>
                <a:spcPts val="5067"/>
              </a:lnSpc>
              <a:spcBef>
                <a:spcPct val="0"/>
              </a:spcBef>
            </a:pPr>
            <a:r>
              <a:rPr lang="en-US" sz="3619" dirty="0">
                <a:solidFill>
                  <a:srgbClr val="000000"/>
                </a:solidFill>
                <a:latin typeface="Times New Roman" panose="02020603050405020304" pitchFamily="18" charset="0"/>
                <a:ea typeface="Poppins"/>
                <a:cs typeface="Times New Roman" panose="02020603050405020304" pitchFamily="18" charset="0"/>
                <a:sym typeface="Poppins"/>
              </a:rPr>
              <a:t>Team Number:  02</a:t>
            </a:r>
          </a:p>
        </p:txBody>
      </p:sp>
      <p:sp>
        <p:nvSpPr>
          <p:cNvPr id="7" name="TextBox 7"/>
          <p:cNvSpPr txBox="1"/>
          <p:nvPr/>
        </p:nvSpPr>
        <p:spPr>
          <a:xfrm>
            <a:off x="4343400" y="6515100"/>
            <a:ext cx="11180667" cy="2432589"/>
          </a:xfrm>
          <a:prstGeom prst="rect">
            <a:avLst/>
          </a:prstGeom>
        </p:spPr>
        <p:txBody>
          <a:bodyPr wrap="square" lIns="0" tIns="0" rIns="0" bIns="0" rtlCol="0" anchor="t">
            <a:spAutoFit/>
          </a:bodyPr>
          <a:lstStyle/>
          <a:p>
            <a:pPr algn="l">
              <a:lnSpc>
                <a:spcPts val="4846"/>
              </a:lnSpc>
              <a:spcBef>
                <a:spcPct val="0"/>
              </a:spcBef>
            </a:pPr>
            <a:r>
              <a:rPr lang="en-US" sz="3461" dirty="0">
                <a:solidFill>
                  <a:srgbClr val="000000"/>
                </a:solidFill>
                <a:latin typeface="Poppins"/>
                <a:ea typeface="Poppins"/>
                <a:cs typeface="Poppins"/>
                <a:sym typeface="Poppins"/>
              </a:rPr>
              <a:t>1.________KARTHICK.N_______(24BAD055)</a:t>
            </a:r>
          </a:p>
          <a:p>
            <a:pPr algn="l">
              <a:lnSpc>
                <a:spcPts val="4846"/>
              </a:lnSpc>
              <a:spcBef>
                <a:spcPct val="0"/>
              </a:spcBef>
            </a:pPr>
            <a:r>
              <a:rPr lang="en-US" sz="3461" dirty="0">
                <a:solidFill>
                  <a:srgbClr val="000000"/>
                </a:solidFill>
                <a:latin typeface="Poppins"/>
                <a:ea typeface="Poppins"/>
                <a:cs typeface="Poppins"/>
                <a:sym typeface="Poppins"/>
              </a:rPr>
              <a:t>2.________MANOJ.M________(24BAD067)</a:t>
            </a:r>
          </a:p>
          <a:p>
            <a:pPr algn="l">
              <a:lnSpc>
                <a:spcPts val="4846"/>
              </a:lnSpc>
              <a:spcBef>
                <a:spcPct val="0"/>
              </a:spcBef>
            </a:pPr>
            <a:r>
              <a:rPr lang="en-US" sz="3461" dirty="0">
                <a:solidFill>
                  <a:srgbClr val="000000"/>
                </a:solidFill>
                <a:latin typeface="Poppins"/>
                <a:ea typeface="Poppins"/>
                <a:cs typeface="Poppins"/>
                <a:sym typeface="Poppins"/>
              </a:rPr>
              <a:t>3.________NEHA.N .K________(24BAD078)</a:t>
            </a:r>
          </a:p>
          <a:p>
            <a:pPr algn="l">
              <a:lnSpc>
                <a:spcPts val="4846"/>
              </a:lnSpc>
              <a:spcBef>
                <a:spcPct val="0"/>
              </a:spcBef>
            </a:pPr>
            <a:r>
              <a:rPr lang="en-US" sz="3461" dirty="0">
                <a:solidFill>
                  <a:srgbClr val="000000"/>
                </a:solidFill>
                <a:latin typeface="Poppins"/>
                <a:ea typeface="Poppins"/>
                <a:cs typeface="Poppins"/>
                <a:sym typeface="Poppins"/>
              </a:rPr>
              <a:t>4.________PRANESH.M_______(24BAD089)</a:t>
            </a:r>
          </a:p>
        </p:txBody>
      </p:sp>
      <p:sp>
        <p:nvSpPr>
          <p:cNvPr id="8" name="TextBox 8"/>
          <p:cNvSpPr txBox="1"/>
          <p:nvPr/>
        </p:nvSpPr>
        <p:spPr>
          <a:xfrm>
            <a:off x="5257800" y="4455918"/>
            <a:ext cx="6324600" cy="480901"/>
          </a:xfrm>
          <a:prstGeom prst="rect">
            <a:avLst/>
          </a:prstGeom>
        </p:spPr>
        <p:txBody>
          <a:bodyPr wrap="square" lIns="0" tIns="0" rIns="0" bIns="0" rtlCol="0" anchor="t">
            <a:spAutoFit/>
          </a:bodyPr>
          <a:lstStyle/>
          <a:p>
            <a:pPr algn="ctr">
              <a:lnSpc>
                <a:spcPts val="3963"/>
              </a:lnSpc>
              <a:spcBef>
                <a:spcPct val="0"/>
              </a:spcBef>
            </a:pPr>
            <a:r>
              <a:rPr lang="en-US" sz="3200" b="1" dirty="0">
                <a:solidFill>
                  <a:srgbClr val="000000"/>
                </a:solidFill>
                <a:latin typeface="Times New Roman" panose="02020603050405020304" pitchFamily="18" charset="0"/>
                <a:ea typeface="Poppins Bold"/>
                <a:cs typeface="Times New Roman" panose="02020603050405020304" pitchFamily="18" charset="0"/>
                <a:sym typeface="Poppins Bold"/>
              </a:rPr>
              <a:t>Review-1 (10th March,2026)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Problem Statement </a:t>
            </a:r>
          </a:p>
        </p:txBody>
      </p:sp>
      <p:sp>
        <p:nvSpPr>
          <p:cNvPr id="6" name="TextBox 6"/>
          <p:cNvSpPr txBox="1"/>
          <p:nvPr/>
        </p:nvSpPr>
        <p:spPr>
          <a:xfrm>
            <a:off x="3810000" y="3040360"/>
            <a:ext cx="11661555" cy="4206280"/>
          </a:xfrm>
          <a:prstGeom prst="rect">
            <a:avLst/>
          </a:prstGeom>
        </p:spPr>
        <p:txBody>
          <a:bodyPr wrap="square" lIns="0" tIns="0" rIns="0" bIns="0" rtlCol="0" anchor="t">
            <a:spAutoFit/>
          </a:bodyPr>
          <a:lstStyle/>
          <a:p>
            <a:pPr algn="ctr">
              <a:lnSpc>
                <a:spcPts val="4105"/>
              </a:lnSpc>
              <a:spcBef>
                <a:spcPct val="0"/>
              </a:spcBef>
            </a:pPr>
            <a:r>
              <a:rPr lang="en-US" sz="3600" dirty="0">
                <a:latin typeface="Times New Roman" panose="02020603050405020304" pitchFamily="18" charset="0"/>
                <a:ea typeface="Poppins Italics"/>
                <a:cs typeface="Times New Roman" panose="02020603050405020304" pitchFamily="18" charset="0"/>
                <a:sym typeface="Poppins Italics"/>
              </a:rPr>
              <a:t>The US aviation network loses millions of minutes annually to flight delays, causing massive financial and operational disruptions. It is incredibly difficult to isolate whether delays are caused by compounding network domino effects (late departures), airline inefficiencies, or independent bottlenecks like weather. We need to decode these raw, highly skewed operational logs into visual narratives to identify the true root causes of delays</a:t>
            </a:r>
          </a:p>
        </p:txBody>
      </p:sp>
      <p:sp>
        <p:nvSpPr>
          <p:cNvPr id="7" name="Freeform 7"/>
          <p:cNvSpPr/>
          <p:nvPr/>
        </p:nvSpPr>
        <p:spPr>
          <a:xfrm>
            <a:off x="734625" y="3363003"/>
            <a:ext cx="1906078" cy="1732798"/>
          </a:xfrm>
          <a:custGeom>
            <a:avLst/>
            <a:gdLst/>
            <a:ahLst/>
            <a:cxnLst/>
            <a:rect l="l" t="t" r="r" b="b"/>
            <a:pathLst>
              <a:path w="1906078" h="1732798">
                <a:moveTo>
                  <a:pt x="0" y="0"/>
                </a:moveTo>
                <a:lnTo>
                  <a:pt x="1906078" y="0"/>
                </a:lnTo>
                <a:lnTo>
                  <a:pt x="1906078" y="1732798"/>
                </a:lnTo>
                <a:lnTo>
                  <a:pt x="0" y="17327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9" name="Picture 8" descr="DELAYED&#10;&#10;AI-generated content may be incorrect.">
            <a:extLst>
              <a:ext uri="{FF2B5EF4-FFF2-40B4-BE49-F238E27FC236}">
                <a16:creationId xmlns:a16="http://schemas.microsoft.com/office/drawing/2014/main" id="{5F2F243A-FD4A-881D-5CCE-1A82896CF99F}"/>
              </a:ext>
            </a:extLst>
          </p:cNvPr>
          <p:cNvPicPr>
            <a:picLocks noChangeAspect="1"/>
          </p:cNvPicPr>
          <p:nvPr/>
        </p:nvPicPr>
        <p:blipFill>
          <a:blip r:embed="rId4"/>
          <a:stretch>
            <a:fillRect/>
          </a:stretch>
        </p:blipFill>
        <p:spPr>
          <a:xfrm>
            <a:off x="7620000" y="7886700"/>
            <a:ext cx="3686562" cy="20079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Project Objectives</a:t>
            </a:r>
          </a:p>
        </p:txBody>
      </p:sp>
      <p:sp>
        <p:nvSpPr>
          <p:cNvPr id="7" name="Freeform 7"/>
          <p:cNvSpPr/>
          <p:nvPr/>
        </p:nvSpPr>
        <p:spPr>
          <a:xfrm>
            <a:off x="381604" y="4686300"/>
            <a:ext cx="1828196" cy="1828196"/>
          </a:xfrm>
          <a:custGeom>
            <a:avLst/>
            <a:gdLst/>
            <a:ahLst/>
            <a:cxnLst/>
            <a:rect l="l" t="t" r="r" b="b"/>
            <a:pathLst>
              <a:path w="1828196" h="1828196">
                <a:moveTo>
                  <a:pt x="0" y="0"/>
                </a:moveTo>
                <a:lnTo>
                  <a:pt x="1828196" y="0"/>
                </a:lnTo>
                <a:lnTo>
                  <a:pt x="1828196" y="1828196"/>
                </a:lnTo>
                <a:lnTo>
                  <a:pt x="0" y="1828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TextBox 6">
            <a:extLst>
              <a:ext uri="{FF2B5EF4-FFF2-40B4-BE49-F238E27FC236}">
                <a16:creationId xmlns:a16="http://schemas.microsoft.com/office/drawing/2014/main" id="{5C4D66E1-D906-E541-EC3B-3B678DB473AE}"/>
              </a:ext>
            </a:extLst>
          </p:cNvPr>
          <p:cNvSpPr txBox="1"/>
          <p:nvPr/>
        </p:nvSpPr>
        <p:spPr>
          <a:xfrm>
            <a:off x="2819400" y="3040360"/>
            <a:ext cx="13258800" cy="5783635"/>
          </a:xfrm>
          <a:prstGeom prst="rect">
            <a:avLst/>
          </a:prstGeom>
        </p:spPr>
        <p:txBody>
          <a:bodyPr wrap="square" lIns="0" tIns="0" rIns="0" bIns="0" rtlCol="0" anchor="t">
            <a:spAutoFit/>
          </a:bodyPr>
          <a:lstStyle/>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Primary Objective</a:t>
            </a:r>
            <a:r>
              <a:rPr lang="en-US" sz="3600" dirty="0">
                <a:latin typeface="Times New Roman" panose="02020603050405020304" pitchFamily="18" charset="0"/>
                <a:ea typeface="Poppins Italics"/>
                <a:cs typeface="Times New Roman" panose="02020603050405020304" pitchFamily="18" charset="0"/>
                <a:sym typeface="Poppins Italics"/>
              </a:rPr>
              <a:t>: To uncover the root operational and seasonal drivers of flight disruptions using advanced visual storytelling and statistical analysis.</a:t>
            </a:r>
          </a:p>
          <a:p>
            <a:pPr>
              <a:lnSpc>
                <a:spcPts val="4105"/>
              </a:lnSpc>
              <a:spcBef>
                <a:spcPct val="0"/>
              </a:spcBef>
            </a:pPr>
            <a:endParaRPr lang="en-US" sz="3600" b="1"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Secondary Objective</a:t>
            </a:r>
            <a:r>
              <a:rPr lang="en-US" sz="3600" dirty="0">
                <a:latin typeface="Times New Roman" panose="02020603050405020304" pitchFamily="18" charset="0"/>
                <a:ea typeface="Poppins Italics"/>
                <a:cs typeface="Times New Roman" panose="02020603050405020304" pitchFamily="18" charset="0"/>
                <a:sym typeface="Poppins Italics"/>
              </a:rPr>
              <a:t>: To mathematically clean, normalize, and transform a heavily right-skewed dataset of 1.7 million rows into a machine-learning-ready format.</a:t>
            </a:r>
          </a:p>
          <a:p>
            <a:pPr>
              <a:lnSpc>
                <a:spcPts val="4105"/>
              </a:lnSpc>
              <a:spcBef>
                <a:spcPct val="0"/>
              </a:spcBef>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Expected Outcome: </a:t>
            </a:r>
            <a:r>
              <a:rPr lang="en-US" sz="3600" dirty="0">
                <a:latin typeface="Times New Roman" panose="02020603050405020304" pitchFamily="18" charset="0"/>
                <a:ea typeface="Poppins Italics"/>
                <a:cs typeface="Times New Roman" panose="02020603050405020304" pitchFamily="18" charset="0"/>
                <a:sym typeface="Poppins Italics"/>
              </a:rPr>
              <a:t>A perfectly encoded, lightweight dataset ready for dimensionality reduction, culminating in an interactive dashboard for visualizing delay risks.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Scope of the Project</a:t>
            </a:r>
          </a:p>
        </p:txBody>
      </p:sp>
      <p:sp>
        <p:nvSpPr>
          <p:cNvPr id="6" name="TextBox 5">
            <a:extLst>
              <a:ext uri="{FF2B5EF4-FFF2-40B4-BE49-F238E27FC236}">
                <a16:creationId xmlns:a16="http://schemas.microsoft.com/office/drawing/2014/main" id="{7AB9A680-E8CB-1693-9F8B-F39CF902BCC4}"/>
              </a:ext>
            </a:extLst>
          </p:cNvPr>
          <p:cNvSpPr txBox="1"/>
          <p:nvPr/>
        </p:nvSpPr>
        <p:spPr>
          <a:xfrm>
            <a:off x="685800" y="3092274"/>
            <a:ext cx="11125200" cy="5078313"/>
          </a:xfrm>
          <a:prstGeom prst="rect">
            <a:avLst/>
          </a:prstGeom>
          <a:noFill/>
        </p:spPr>
        <p:txBody>
          <a:bodyPr wrap="square" rtlCol="0">
            <a:spAutoFit/>
          </a:bodyPr>
          <a:lstStyle/>
          <a:p>
            <a:r>
              <a:rPr lang="en-US" sz="3600" dirty="0"/>
              <a:t>Data Footprint: Analyzing 1.7 million US domestic flight records from 2024.</a:t>
            </a:r>
          </a:p>
          <a:p>
            <a:endParaRPr lang="en-US" sz="3600" dirty="0"/>
          </a:p>
          <a:p>
            <a:r>
              <a:rPr lang="en-US" sz="3600" dirty="0"/>
              <a:t>Operational Focus: Evaluating the Top 10 highest-volume airlines and major US airport hubs.</a:t>
            </a:r>
          </a:p>
          <a:p>
            <a:endParaRPr lang="en-US" sz="3600" dirty="0"/>
          </a:p>
          <a:p>
            <a:r>
              <a:rPr lang="en-US" sz="3600" dirty="0"/>
              <a:t>Analytical Boundary: Excluding fully cancelled or diverted flights to focus purely on continuous delay minutes and network bottlenecks.</a:t>
            </a:r>
            <a:endParaRPr lang="en-IN" sz="3600" dirty="0"/>
          </a:p>
        </p:txBody>
      </p:sp>
      <p:pic>
        <p:nvPicPr>
          <p:cNvPr id="8" name="Picture 7" descr="The image is a map illustrating various U.S. airline hubs, including major cities such as Seattle, Philadelphia, Minneapolis, Newark, and others.&#10;&#10;AI-generated content may be incorrect.">
            <a:extLst>
              <a:ext uri="{FF2B5EF4-FFF2-40B4-BE49-F238E27FC236}">
                <a16:creationId xmlns:a16="http://schemas.microsoft.com/office/drawing/2014/main" id="{E8E522C8-7FBA-4D51-039A-D57C4EDC0DC4}"/>
              </a:ext>
            </a:extLst>
          </p:cNvPr>
          <p:cNvPicPr>
            <a:picLocks noChangeAspect="1"/>
          </p:cNvPicPr>
          <p:nvPr/>
        </p:nvPicPr>
        <p:blipFill>
          <a:blip r:embed="rId2"/>
          <a:stretch>
            <a:fillRect/>
          </a:stretch>
        </p:blipFill>
        <p:spPr>
          <a:xfrm>
            <a:off x="12268200" y="3243644"/>
            <a:ext cx="4876800" cy="50999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378542"/>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dirty="0">
                <a:solidFill>
                  <a:srgbClr val="FFFFFF"/>
                </a:solidFill>
                <a:latin typeface="Poppins Bold"/>
                <a:ea typeface="Poppins Bold"/>
                <a:cs typeface="Poppins Bold"/>
                <a:sym typeface="Poppins Bold"/>
              </a:rPr>
              <a:t>Dataset Description</a:t>
            </a:r>
          </a:p>
        </p:txBody>
      </p:sp>
      <p:sp>
        <p:nvSpPr>
          <p:cNvPr id="6" name="TextBox 6"/>
          <p:cNvSpPr txBox="1"/>
          <p:nvPr/>
        </p:nvSpPr>
        <p:spPr>
          <a:xfrm>
            <a:off x="2667000" y="2652736"/>
            <a:ext cx="13411200" cy="6463308"/>
          </a:xfrm>
          <a:prstGeom prst="rect">
            <a:avLst/>
          </a:prstGeom>
        </p:spPr>
        <p:txBody>
          <a:bodyPr wrap="square" lIns="0" tIns="0" rIns="0" bIns="0" rtlCol="0" anchor="t">
            <a:spAutoFit/>
          </a:bodyPr>
          <a:lstStyle/>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Dataset Source: Official US Logistics &amp; Aviation Portal (Bureau of Transportation Statistics / Department of Transportation)</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Number of records: 1,669,746 rows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Number of features: 26 original raw columns (Expanded to 32 engineered features)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Target variable: ARR_DELAY (Continuous) / IS_DELAYED (Binary &gt; 15 mins)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Data type: Structured, tabular numeric and categorical data</a:t>
            </a:r>
          </a:p>
        </p:txBody>
      </p:sp>
      <p:sp>
        <p:nvSpPr>
          <p:cNvPr id="7" name="Freeform 7"/>
          <p:cNvSpPr/>
          <p:nvPr/>
        </p:nvSpPr>
        <p:spPr>
          <a:xfrm>
            <a:off x="589484" y="3326504"/>
            <a:ext cx="1561780" cy="1561780"/>
          </a:xfrm>
          <a:custGeom>
            <a:avLst/>
            <a:gdLst/>
            <a:ahLst/>
            <a:cxnLst/>
            <a:rect l="l" t="t" r="r" b="b"/>
            <a:pathLst>
              <a:path w="1561780" h="1561780">
                <a:moveTo>
                  <a:pt x="0" y="0"/>
                </a:moveTo>
                <a:lnTo>
                  <a:pt x="1561781" y="0"/>
                </a:lnTo>
                <a:lnTo>
                  <a:pt x="1561781" y="1561780"/>
                </a:lnTo>
                <a:lnTo>
                  <a:pt x="0" y="1561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dirty="0">
                <a:solidFill>
                  <a:srgbClr val="FFFFFF"/>
                </a:solidFill>
                <a:latin typeface="Poppins Bold"/>
                <a:ea typeface="Poppins Bold"/>
                <a:cs typeface="Poppins Bold"/>
                <a:sym typeface="Poppins Bold"/>
              </a:rPr>
              <a:t>Methodology(Process / Workflow)</a:t>
            </a:r>
          </a:p>
        </p:txBody>
      </p:sp>
      <p:sp>
        <p:nvSpPr>
          <p:cNvPr id="7" name="Freeform 7"/>
          <p:cNvSpPr/>
          <p:nvPr/>
        </p:nvSpPr>
        <p:spPr>
          <a:xfrm>
            <a:off x="339787" y="3086100"/>
            <a:ext cx="2066922" cy="2057400"/>
          </a:xfrm>
          <a:custGeom>
            <a:avLst/>
            <a:gdLst/>
            <a:ahLst/>
            <a:cxnLst/>
            <a:rect l="l" t="t" r="r" b="b"/>
            <a:pathLst>
              <a:path w="2066922" h="2057400">
                <a:moveTo>
                  <a:pt x="0" y="0"/>
                </a:moveTo>
                <a:lnTo>
                  <a:pt x="2066922" y="0"/>
                </a:lnTo>
                <a:lnTo>
                  <a:pt x="2066922"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TextBox 6">
            <a:extLst>
              <a:ext uri="{FF2B5EF4-FFF2-40B4-BE49-F238E27FC236}">
                <a16:creationId xmlns:a16="http://schemas.microsoft.com/office/drawing/2014/main" id="{1A715B18-4D8B-2CFE-BE5F-26DE7FE3A666}"/>
              </a:ext>
            </a:extLst>
          </p:cNvPr>
          <p:cNvSpPr txBox="1"/>
          <p:nvPr/>
        </p:nvSpPr>
        <p:spPr>
          <a:xfrm>
            <a:off x="2819399" y="3040360"/>
            <a:ext cx="15128813" cy="5783635"/>
          </a:xfrm>
          <a:prstGeom prst="rect">
            <a:avLst/>
          </a:prstGeom>
        </p:spPr>
        <p:txBody>
          <a:bodyPr wrap="square" lIns="0" tIns="0" rIns="0" bIns="0" rtlCol="0" anchor="t">
            <a:spAutoFit/>
          </a:bodyPr>
          <a:lstStyle/>
          <a:p>
            <a:pPr>
              <a:lnSpc>
                <a:spcPts val="4105"/>
              </a:lnSpc>
              <a:spcBef>
                <a:spcPct val="0"/>
              </a:spcBef>
            </a:pPr>
            <a:r>
              <a:rPr lang="en-US" sz="3200" b="1" dirty="0">
                <a:latin typeface="Times New Roman" panose="02020603050405020304" pitchFamily="18" charset="0"/>
                <a:ea typeface="Poppins Italics"/>
                <a:cs typeface="Times New Roman" panose="02020603050405020304" pitchFamily="18" charset="0"/>
                <a:sym typeface="Poppins Italics"/>
              </a:rPr>
              <a:t>Data Collection: </a:t>
            </a:r>
            <a:r>
              <a:rPr lang="en-US" sz="3200" dirty="0">
                <a:latin typeface="Times New Roman" panose="02020603050405020304" pitchFamily="18" charset="0"/>
                <a:ea typeface="Poppins Italics"/>
                <a:cs typeface="Times New Roman" panose="02020603050405020304" pitchFamily="18" charset="0"/>
                <a:sym typeface="Poppins Italics"/>
              </a:rPr>
              <a:t>Sourced a comprehensive 2024 US flights dataset from Kaggle.</a:t>
            </a:r>
          </a:p>
          <a:p>
            <a:pPr>
              <a:lnSpc>
                <a:spcPts val="4105"/>
              </a:lnSpc>
              <a:spcBef>
                <a:spcPct val="0"/>
              </a:spcBef>
            </a:pPr>
            <a:endParaRPr lang="en-US" sz="32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200" b="1" dirty="0">
                <a:latin typeface="Times New Roman" panose="02020603050405020304" pitchFamily="18" charset="0"/>
                <a:ea typeface="Poppins Italics"/>
                <a:cs typeface="Times New Roman" panose="02020603050405020304" pitchFamily="18" charset="0"/>
                <a:sym typeface="Poppins Italics"/>
              </a:rPr>
              <a:t>Data Preprocessing: </a:t>
            </a:r>
            <a:r>
              <a:rPr lang="en-US" sz="3200" dirty="0">
                <a:latin typeface="Times New Roman" panose="02020603050405020304" pitchFamily="18" charset="0"/>
                <a:ea typeface="Poppins Italics"/>
                <a:cs typeface="Times New Roman" panose="02020603050405020304" pitchFamily="18" charset="0"/>
                <a:sym typeface="Poppins Italics"/>
              </a:rPr>
              <a:t>Handled ghost rows, capped extreme outliers (1440 minutes), and imputed missing time fields using medians.</a:t>
            </a:r>
          </a:p>
          <a:p>
            <a:pPr>
              <a:lnSpc>
                <a:spcPts val="4105"/>
              </a:lnSpc>
              <a:spcBef>
                <a:spcPct val="0"/>
              </a:spcBef>
            </a:pPr>
            <a:endParaRPr lang="en-US" sz="32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200" b="1" dirty="0">
                <a:latin typeface="Times New Roman" panose="02020603050405020304" pitchFamily="18" charset="0"/>
                <a:ea typeface="Poppins Italics"/>
                <a:cs typeface="Times New Roman" panose="02020603050405020304" pitchFamily="18" charset="0"/>
                <a:sym typeface="Poppins Italics"/>
              </a:rPr>
              <a:t>Exploratory Data Analysis (EDA): </a:t>
            </a:r>
            <a:r>
              <a:rPr lang="en-US" sz="3200" dirty="0">
                <a:latin typeface="Times New Roman" panose="02020603050405020304" pitchFamily="18" charset="0"/>
                <a:ea typeface="Poppins Italics"/>
                <a:cs typeface="Times New Roman" panose="02020603050405020304" pitchFamily="18" charset="0"/>
                <a:sym typeface="Poppins Italics"/>
              </a:rPr>
              <a:t>Mapped density correlations, plotted Top 10 airline operational variances, and identified independent delay triggers.</a:t>
            </a:r>
          </a:p>
          <a:p>
            <a:pPr>
              <a:lnSpc>
                <a:spcPts val="4105"/>
              </a:lnSpc>
              <a:spcBef>
                <a:spcPct val="0"/>
              </a:spcBef>
            </a:pPr>
            <a:endParaRPr lang="en-US" sz="32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200" b="1" dirty="0">
                <a:latin typeface="Times New Roman" panose="02020603050405020304" pitchFamily="18" charset="0"/>
                <a:ea typeface="Poppins Italics"/>
                <a:cs typeface="Times New Roman" panose="02020603050405020304" pitchFamily="18" charset="0"/>
                <a:sym typeface="Poppins Italics"/>
              </a:rPr>
              <a:t>Feature Engineering (Till Week 6): </a:t>
            </a:r>
            <a:r>
              <a:rPr lang="en-US" sz="3200" dirty="0">
                <a:latin typeface="Times New Roman" panose="02020603050405020304" pitchFamily="18" charset="0"/>
                <a:ea typeface="Poppins Italics"/>
                <a:cs typeface="Times New Roman" panose="02020603050405020304" pitchFamily="18" charset="0"/>
                <a:sym typeface="Poppins Italics"/>
              </a:rPr>
              <a:t>Applied Cube Root transformations to fix extreme skewness, </a:t>
            </a:r>
            <a:r>
              <a:rPr lang="en-US" sz="3200" dirty="0" err="1">
                <a:latin typeface="Times New Roman" panose="02020603050405020304" pitchFamily="18" charset="0"/>
                <a:ea typeface="Poppins Italics"/>
                <a:cs typeface="Times New Roman" panose="02020603050405020304" pitchFamily="18" charset="0"/>
                <a:sym typeface="Poppins Italics"/>
              </a:rPr>
              <a:t>MinMax</a:t>
            </a:r>
            <a:r>
              <a:rPr lang="en-US" sz="3200" dirty="0">
                <a:latin typeface="Times New Roman" panose="02020603050405020304" pitchFamily="18" charset="0"/>
                <a:ea typeface="Poppins Italics"/>
                <a:cs typeface="Times New Roman" panose="02020603050405020304" pitchFamily="18" charset="0"/>
                <a:sym typeface="Poppins Italics"/>
              </a:rPr>
              <a:t> Scaling for time variables, and memory-safe Label Encoding for high-cardinality airports</a:t>
            </a:r>
            <a:r>
              <a:rPr lang="en-US" sz="2400" dirty="0">
                <a:latin typeface="Times New Roman" panose="02020603050405020304" pitchFamily="18" charset="0"/>
                <a:ea typeface="Poppins Italics"/>
                <a:cs typeface="Times New Roman" panose="02020603050405020304" pitchFamily="18" charset="0"/>
                <a:sym typeface="Poppins Italic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dirty="0"/>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
        <p:nvSpPr>
          <p:cNvPr id="10" name="TextBox 9">
            <a:extLst>
              <a:ext uri="{FF2B5EF4-FFF2-40B4-BE49-F238E27FC236}">
                <a16:creationId xmlns:a16="http://schemas.microsoft.com/office/drawing/2014/main" id="{F81627D7-8549-D4C3-10CD-7201BA69A00A}"/>
              </a:ext>
            </a:extLst>
          </p:cNvPr>
          <p:cNvSpPr txBox="1"/>
          <p:nvPr/>
        </p:nvSpPr>
        <p:spPr>
          <a:xfrm>
            <a:off x="1219200" y="3771900"/>
            <a:ext cx="9157648" cy="584775"/>
          </a:xfrm>
          <a:prstGeom prst="rect">
            <a:avLst/>
          </a:prstGeom>
          <a:noFill/>
        </p:spPr>
        <p:txBody>
          <a:bodyPr wrap="square">
            <a:spAutoFit/>
          </a:bodyPr>
          <a:lstStyle/>
          <a:p>
            <a:r>
              <a:rPr lang="en-IN" sz="3200" dirty="0"/>
              <a:t>The Distribution of Delays</a:t>
            </a:r>
          </a:p>
        </p:txBody>
      </p:sp>
      <p:sp>
        <p:nvSpPr>
          <p:cNvPr id="11" name="TextBox 10">
            <a:extLst>
              <a:ext uri="{FF2B5EF4-FFF2-40B4-BE49-F238E27FC236}">
                <a16:creationId xmlns:a16="http://schemas.microsoft.com/office/drawing/2014/main" id="{9874DD67-CD8C-57CA-7BCD-297D44A01A6D}"/>
              </a:ext>
            </a:extLst>
          </p:cNvPr>
          <p:cNvSpPr txBox="1"/>
          <p:nvPr/>
        </p:nvSpPr>
        <p:spPr>
          <a:xfrm>
            <a:off x="1219200" y="2721044"/>
            <a:ext cx="5105400" cy="646331"/>
          </a:xfrm>
          <a:prstGeom prst="rect">
            <a:avLst/>
          </a:prstGeom>
          <a:noFill/>
        </p:spPr>
        <p:txBody>
          <a:bodyPr wrap="square" rtlCol="0">
            <a:spAutoFit/>
          </a:bodyPr>
          <a:lstStyle/>
          <a:p>
            <a:r>
              <a:rPr lang="en-US" sz="3600" b="1" u="sng" dirty="0"/>
              <a:t>EDA INSIGHTS</a:t>
            </a:r>
            <a:endParaRPr lang="en-IN" sz="3600" b="1" u="sng" dirty="0"/>
          </a:p>
        </p:txBody>
      </p:sp>
      <p:pic>
        <p:nvPicPr>
          <p:cNvPr id="13" name="Picture 12" descr="The graph shows a distribution of flight departure delays, ranging from -50 to 300 minutes, with the number of flights peaking at 800,000 for delays under 100 minutes.&#10;&#10;AI-generated content may be incorrect.">
            <a:extLst>
              <a:ext uri="{FF2B5EF4-FFF2-40B4-BE49-F238E27FC236}">
                <a16:creationId xmlns:a16="http://schemas.microsoft.com/office/drawing/2014/main" id="{BEFF522C-70CF-B4B7-1347-61EDFCF53814}"/>
              </a:ext>
            </a:extLst>
          </p:cNvPr>
          <p:cNvPicPr>
            <a:picLocks noChangeAspect="1"/>
          </p:cNvPicPr>
          <p:nvPr/>
        </p:nvPicPr>
        <p:blipFill>
          <a:blip r:embed="rId2"/>
          <a:stretch>
            <a:fillRect/>
          </a:stretch>
        </p:blipFill>
        <p:spPr>
          <a:xfrm>
            <a:off x="2057400" y="4356675"/>
            <a:ext cx="10058400" cy="5600777"/>
          </a:xfrm>
          <a:prstGeom prst="rect">
            <a:avLst/>
          </a:prstGeom>
        </p:spPr>
      </p:pic>
      <p:sp>
        <p:nvSpPr>
          <p:cNvPr id="14" name="TextBox 13">
            <a:extLst>
              <a:ext uri="{FF2B5EF4-FFF2-40B4-BE49-F238E27FC236}">
                <a16:creationId xmlns:a16="http://schemas.microsoft.com/office/drawing/2014/main" id="{C5C25520-47ED-9AB8-B4B7-49F4F8300786}"/>
              </a:ext>
            </a:extLst>
          </p:cNvPr>
          <p:cNvSpPr txBox="1"/>
          <p:nvPr/>
        </p:nvSpPr>
        <p:spPr>
          <a:xfrm>
            <a:off x="12573000" y="4076700"/>
            <a:ext cx="4495800"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Heavy Right Skewness: Follows a strict power-law distribution.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Operational Floor: No left tail, as flights physically cannot depart significantly early.</a:t>
            </a:r>
          </a:p>
          <a:p>
            <a:endParaRPr lang="en-US" sz="2400" dirty="0"/>
          </a:p>
          <a:p>
            <a:pPr marL="342900" indent="-342900">
              <a:buFont typeface="Arial" panose="020B0604020202020204" pitchFamily="34" charset="0"/>
              <a:buChar char="•"/>
            </a:pPr>
            <a:r>
              <a:rPr lang="en-US" sz="2400" dirty="0"/>
              <a:t>The Outlier Reality: Extreme delays stretch infinitely to the right, representing network failures rather than data entry errors</a:t>
            </a:r>
            <a:r>
              <a:rPr lang="en-US" dirty="0"/>
              <a: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a:extLst>
            <a:ext uri="{FF2B5EF4-FFF2-40B4-BE49-F238E27FC236}">
              <a16:creationId xmlns:a16="http://schemas.microsoft.com/office/drawing/2014/main" id="{9F790440-BEAF-B131-ECE1-3FFE5C84BCB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D91A75-376C-141A-01DA-0D999CD6FBA2}"/>
              </a:ext>
            </a:extLst>
          </p:cNvPr>
          <p:cNvGrpSpPr/>
          <p:nvPr/>
        </p:nvGrpSpPr>
        <p:grpSpPr>
          <a:xfrm>
            <a:off x="0" y="576841"/>
            <a:ext cx="18288000" cy="2058570"/>
            <a:chOff x="0" y="0"/>
            <a:chExt cx="3738189" cy="420785"/>
          </a:xfrm>
        </p:grpSpPr>
        <p:sp>
          <p:nvSpPr>
            <p:cNvPr id="3" name="Freeform 3">
              <a:extLst>
                <a:ext uri="{FF2B5EF4-FFF2-40B4-BE49-F238E27FC236}">
                  <a16:creationId xmlns:a16="http://schemas.microsoft.com/office/drawing/2014/main" id="{18BA0BAA-FDB5-3FAB-1F6A-0AFEE0C06FF3}"/>
                </a:ext>
              </a:extLst>
            </p:cNvPr>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dirty="0"/>
            </a:p>
          </p:txBody>
        </p:sp>
        <p:sp>
          <p:nvSpPr>
            <p:cNvPr id="4" name="TextBox 4">
              <a:extLst>
                <a:ext uri="{FF2B5EF4-FFF2-40B4-BE49-F238E27FC236}">
                  <a16:creationId xmlns:a16="http://schemas.microsoft.com/office/drawing/2014/main" id="{31A900F3-5284-9F74-3B1D-CE4088E81B2C}"/>
                </a:ext>
              </a:extLst>
            </p:cNvPr>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7" name="TextBox 7">
            <a:extLst>
              <a:ext uri="{FF2B5EF4-FFF2-40B4-BE49-F238E27FC236}">
                <a16:creationId xmlns:a16="http://schemas.microsoft.com/office/drawing/2014/main" id="{9F4F84C7-D4AB-F675-2F7D-71E379E91164}"/>
              </a:ext>
            </a:extLst>
          </p:cNvPr>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
        <p:nvSpPr>
          <p:cNvPr id="10" name="TextBox 9">
            <a:extLst>
              <a:ext uri="{FF2B5EF4-FFF2-40B4-BE49-F238E27FC236}">
                <a16:creationId xmlns:a16="http://schemas.microsoft.com/office/drawing/2014/main" id="{863A2CA5-4E74-2700-1869-3F4DDB02A840}"/>
              </a:ext>
            </a:extLst>
          </p:cNvPr>
          <p:cNvSpPr txBox="1"/>
          <p:nvPr/>
        </p:nvSpPr>
        <p:spPr>
          <a:xfrm>
            <a:off x="838200" y="3314700"/>
            <a:ext cx="9157648" cy="584775"/>
          </a:xfrm>
          <a:prstGeom prst="rect">
            <a:avLst/>
          </a:prstGeom>
          <a:noFill/>
        </p:spPr>
        <p:txBody>
          <a:bodyPr wrap="square">
            <a:spAutoFit/>
          </a:bodyPr>
          <a:lstStyle/>
          <a:p>
            <a:r>
              <a:rPr lang="en-IN" sz="3200" dirty="0"/>
              <a:t> Network Bottlenecks are Independent</a:t>
            </a:r>
          </a:p>
        </p:txBody>
      </p:sp>
      <p:sp>
        <p:nvSpPr>
          <p:cNvPr id="14" name="TextBox 13">
            <a:extLst>
              <a:ext uri="{FF2B5EF4-FFF2-40B4-BE49-F238E27FC236}">
                <a16:creationId xmlns:a16="http://schemas.microsoft.com/office/drawing/2014/main" id="{F401ADA0-413C-2D2F-BE0F-07863ACF1606}"/>
              </a:ext>
            </a:extLst>
          </p:cNvPr>
          <p:cNvSpPr txBox="1"/>
          <p:nvPr/>
        </p:nvSpPr>
        <p:spPr>
          <a:xfrm>
            <a:off x="1054565" y="4457700"/>
            <a:ext cx="571500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Target Confirmation: Departure and Arrival delays share a 0.97 linear correlation.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Isolated Root Causes: Weather, Carrier, and NAS delays show near-zero correlation with each other.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Insight: Delays are triggered by isolated systemic failures, not compounding category errors.</a:t>
            </a:r>
            <a:endParaRPr lang="en-IN" sz="2400" dirty="0"/>
          </a:p>
        </p:txBody>
      </p:sp>
      <p:pic>
        <p:nvPicPr>
          <p:cNvPr id="6" name="Picture 5">
            <a:extLst>
              <a:ext uri="{FF2B5EF4-FFF2-40B4-BE49-F238E27FC236}">
                <a16:creationId xmlns:a16="http://schemas.microsoft.com/office/drawing/2014/main" id="{24C74AB3-E548-884F-4011-0699BAB89D0A}"/>
              </a:ext>
            </a:extLst>
          </p:cNvPr>
          <p:cNvPicPr>
            <a:picLocks noChangeAspect="1"/>
          </p:cNvPicPr>
          <p:nvPr/>
        </p:nvPicPr>
        <p:blipFill>
          <a:blip r:embed="rId2"/>
          <a:stretch>
            <a:fillRect/>
          </a:stretch>
        </p:blipFill>
        <p:spPr>
          <a:xfrm>
            <a:off x="8458200" y="3067524"/>
            <a:ext cx="9402619" cy="7082379"/>
          </a:xfrm>
          <a:prstGeom prst="rect">
            <a:avLst/>
          </a:prstGeom>
        </p:spPr>
      </p:pic>
    </p:spTree>
    <p:extLst>
      <p:ext uri="{BB962C8B-B14F-4D97-AF65-F5344CB8AC3E}">
        <p14:creationId xmlns:p14="http://schemas.microsoft.com/office/powerpoint/2010/main" val="193734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a:extLst>
            <a:ext uri="{FF2B5EF4-FFF2-40B4-BE49-F238E27FC236}">
              <a16:creationId xmlns:a16="http://schemas.microsoft.com/office/drawing/2014/main" id="{DA9CFAAC-CFB8-FA72-3B2F-83C50568BB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17B72DF-E3A2-1A04-0CD7-FD3F2E154824}"/>
              </a:ext>
            </a:extLst>
          </p:cNvPr>
          <p:cNvGrpSpPr/>
          <p:nvPr/>
        </p:nvGrpSpPr>
        <p:grpSpPr>
          <a:xfrm>
            <a:off x="0" y="576841"/>
            <a:ext cx="18288000" cy="2058570"/>
            <a:chOff x="0" y="0"/>
            <a:chExt cx="3738189" cy="420785"/>
          </a:xfrm>
        </p:grpSpPr>
        <p:sp>
          <p:nvSpPr>
            <p:cNvPr id="3" name="Freeform 3">
              <a:extLst>
                <a:ext uri="{FF2B5EF4-FFF2-40B4-BE49-F238E27FC236}">
                  <a16:creationId xmlns:a16="http://schemas.microsoft.com/office/drawing/2014/main" id="{0F46284B-DF6B-7CC7-D744-F7A850B4D273}"/>
                </a:ext>
              </a:extLst>
            </p:cNvPr>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a:extLst>
                <a:ext uri="{FF2B5EF4-FFF2-40B4-BE49-F238E27FC236}">
                  <a16:creationId xmlns:a16="http://schemas.microsoft.com/office/drawing/2014/main" id="{05676B1D-D58F-C6D0-CF3D-9ADFD807C87D}"/>
                </a:ext>
              </a:extLst>
            </p:cNvPr>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7" name="TextBox 7">
            <a:extLst>
              <a:ext uri="{FF2B5EF4-FFF2-40B4-BE49-F238E27FC236}">
                <a16:creationId xmlns:a16="http://schemas.microsoft.com/office/drawing/2014/main" id="{E08FEC85-6F77-BD52-7547-F7FE347A9386}"/>
              </a:ext>
            </a:extLst>
          </p:cNvPr>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
        <p:nvSpPr>
          <p:cNvPr id="6" name="TextBox 5">
            <a:extLst>
              <a:ext uri="{FF2B5EF4-FFF2-40B4-BE49-F238E27FC236}">
                <a16:creationId xmlns:a16="http://schemas.microsoft.com/office/drawing/2014/main" id="{FE6F7DAC-0A71-12EE-D732-D68412E06C0D}"/>
              </a:ext>
            </a:extLst>
          </p:cNvPr>
          <p:cNvSpPr txBox="1"/>
          <p:nvPr/>
        </p:nvSpPr>
        <p:spPr>
          <a:xfrm>
            <a:off x="685800" y="3162300"/>
            <a:ext cx="9157648" cy="523220"/>
          </a:xfrm>
          <a:prstGeom prst="rect">
            <a:avLst/>
          </a:prstGeom>
          <a:noFill/>
        </p:spPr>
        <p:txBody>
          <a:bodyPr wrap="square">
            <a:spAutoFit/>
          </a:bodyPr>
          <a:lstStyle/>
          <a:p>
            <a:r>
              <a:rPr lang="en-IN" sz="2800" dirty="0"/>
              <a:t>The Domino Effect &amp; Time Recovery</a:t>
            </a:r>
          </a:p>
        </p:txBody>
      </p:sp>
      <p:pic>
        <p:nvPicPr>
          <p:cNvPr id="9" name="Picture 8" descr="The graph shows the distribution of arrival and departure delays in minutes, with peaks at 1400 and 1200, and a dip at 1000.&#10;&#10;AI-generated content may be incorrect.">
            <a:extLst>
              <a:ext uri="{FF2B5EF4-FFF2-40B4-BE49-F238E27FC236}">
                <a16:creationId xmlns:a16="http://schemas.microsoft.com/office/drawing/2014/main" id="{8F93F920-F734-9CE1-842C-1D453B9B5972}"/>
              </a:ext>
            </a:extLst>
          </p:cNvPr>
          <p:cNvPicPr>
            <a:picLocks noChangeAspect="1"/>
          </p:cNvPicPr>
          <p:nvPr/>
        </p:nvPicPr>
        <p:blipFill>
          <a:blip r:embed="rId2"/>
          <a:stretch>
            <a:fillRect/>
          </a:stretch>
        </p:blipFill>
        <p:spPr>
          <a:xfrm>
            <a:off x="1981200" y="4005952"/>
            <a:ext cx="9753600" cy="5768028"/>
          </a:xfrm>
          <a:prstGeom prst="rect">
            <a:avLst/>
          </a:prstGeom>
        </p:spPr>
      </p:pic>
      <p:sp>
        <p:nvSpPr>
          <p:cNvPr id="11" name="TextBox 10">
            <a:extLst>
              <a:ext uri="{FF2B5EF4-FFF2-40B4-BE49-F238E27FC236}">
                <a16:creationId xmlns:a16="http://schemas.microsoft.com/office/drawing/2014/main" id="{3EEADAD2-A2CA-A4AE-444C-1BEE88A8A57B}"/>
              </a:ext>
            </a:extLst>
          </p:cNvPr>
          <p:cNvSpPr txBox="1"/>
          <p:nvPr/>
        </p:nvSpPr>
        <p:spPr>
          <a:xfrm>
            <a:off x="11963400" y="4610100"/>
            <a:ext cx="6324600" cy="3416320"/>
          </a:xfrm>
          <a:prstGeom prst="rect">
            <a:avLst/>
          </a:prstGeom>
          <a:noFill/>
        </p:spPr>
        <p:txBody>
          <a:bodyPr wrap="square">
            <a:spAutoFit/>
          </a:bodyPr>
          <a:lstStyle/>
          <a:p>
            <a:pPr marL="342900" indent="-342900">
              <a:buFont typeface="Arial" panose="020B0604020202020204" pitchFamily="34" charset="0"/>
              <a:buChar char="•"/>
            </a:pPr>
            <a:r>
              <a:rPr lang="en-IN" sz="2400" dirty="0"/>
              <a:t>Near 1:1 Correlation: Late departures almost definitively trigger late arrivals.</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Density Mapping: Used alpha-blending to prevent overplotting of 1.7 million rows.</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"Making Up Time": The dense cluster below the trendline proves pilots frequently recover time mid-air.</a:t>
            </a:r>
          </a:p>
        </p:txBody>
      </p:sp>
    </p:spTree>
    <p:extLst>
      <p:ext uri="{BB962C8B-B14F-4D97-AF65-F5344CB8AC3E}">
        <p14:creationId xmlns:p14="http://schemas.microsoft.com/office/powerpoint/2010/main" val="3230962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a:extLst>
            <a:ext uri="{FF2B5EF4-FFF2-40B4-BE49-F238E27FC236}">
              <a16:creationId xmlns:a16="http://schemas.microsoft.com/office/drawing/2014/main" id="{E6D9202E-7B50-4C31-0A57-DD03B419094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18741D-E8CA-2F32-EBED-F04EB77E8877}"/>
              </a:ext>
            </a:extLst>
          </p:cNvPr>
          <p:cNvGrpSpPr/>
          <p:nvPr/>
        </p:nvGrpSpPr>
        <p:grpSpPr>
          <a:xfrm>
            <a:off x="0" y="576841"/>
            <a:ext cx="18288000" cy="2058570"/>
            <a:chOff x="0" y="0"/>
            <a:chExt cx="3738189" cy="420785"/>
          </a:xfrm>
        </p:grpSpPr>
        <p:sp>
          <p:nvSpPr>
            <p:cNvPr id="3" name="Freeform 3">
              <a:extLst>
                <a:ext uri="{FF2B5EF4-FFF2-40B4-BE49-F238E27FC236}">
                  <a16:creationId xmlns:a16="http://schemas.microsoft.com/office/drawing/2014/main" id="{2CC0E5FE-C488-6FBB-009F-D52A48478A4A}"/>
                </a:ext>
              </a:extLst>
            </p:cNvPr>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dirty="0"/>
            </a:p>
          </p:txBody>
        </p:sp>
        <p:sp>
          <p:nvSpPr>
            <p:cNvPr id="4" name="TextBox 4">
              <a:extLst>
                <a:ext uri="{FF2B5EF4-FFF2-40B4-BE49-F238E27FC236}">
                  <a16:creationId xmlns:a16="http://schemas.microsoft.com/office/drawing/2014/main" id="{2BAA6174-046A-66A3-2EF7-CD524C4BA5BA}"/>
                </a:ext>
              </a:extLst>
            </p:cNvPr>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7" name="TextBox 7">
            <a:extLst>
              <a:ext uri="{FF2B5EF4-FFF2-40B4-BE49-F238E27FC236}">
                <a16:creationId xmlns:a16="http://schemas.microsoft.com/office/drawing/2014/main" id="{B29CBA50-0FBB-8902-1195-99048DBBECDF}"/>
              </a:ext>
            </a:extLst>
          </p:cNvPr>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
        <p:nvSpPr>
          <p:cNvPr id="10" name="TextBox 9">
            <a:extLst>
              <a:ext uri="{FF2B5EF4-FFF2-40B4-BE49-F238E27FC236}">
                <a16:creationId xmlns:a16="http://schemas.microsoft.com/office/drawing/2014/main" id="{9D605957-3830-2E6E-BF26-C02D939E6A55}"/>
              </a:ext>
            </a:extLst>
          </p:cNvPr>
          <p:cNvSpPr txBox="1"/>
          <p:nvPr/>
        </p:nvSpPr>
        <p:spPr>
          <a:xfrm>
            <a:off x="1545609" y="3174712"/>
            <a:ext cx="9157648" cy="584775"/>
          </a:xfrm>
          <a:prstGeom prst="rect">
            <a:avLst/>
          </a:prstGeom>
          <a:noFill/>
        </p:spPr>
        <p:txBody>
          <a:bodyPr wrap="square">
            <a:spAutoFit/>
          </a:bodyPr>
          <a:lstStyle/>
          <a:p>
            <a:r>
              <a:rPr lang="en-IN" sz="3200" dirty="0"/>
              <a:t>The Weather Boundary Effect</a:t>
            </a:r>
          </a:p>
        </p:txBody>
      </p:sp>
      <p:sp>
        <p:nvSpPr>
          <p:cNvPr id="14" name="TextBox 13">
            <a:extLst>
              <a:ext uri="{FF2B5EF4-FFF2-40B4-BE49-F238E27FC236}">
                <a16:creationId xmlns:a16="http://schemas.microsoft.com/office/drawing/2014/main" id="{AEFEF951-2DDB-E421-5F71-0233CD501483}"/>
              </a:ext>
            </a:extLst>
          </p:cNvPr>
          <p:cNvSpPr txBox="1"/>
          <p:nvPr/>
        </p:nvSpPr>
        <p:spPr>
          <a:xfrm>
            <a:off x="1524000" y="4382086"/>
            <a:ext cx="5715000"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Zero-Weather Delays: The massive vertical spike at 0 indicates extreme delays caused entirely by non-weather factors.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Hard Boundary: The sharp diagonal bottom edge shows Total Delay can never be less than the Weather Delay component.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Compounding Variables: Points floating above the diagonal indicate weather delays combined with other systemic issues.</a:t>
            </a:r>
            <a:endParaRPr lang="en-IN" sz="2400" dirty="0"/>
          </a:p>
        </p:txBody>
      </p:sp>
      <p:pic>
        <p:nvPicPr>
          <p:cNvPr id="8" name="Picture 7" descr="The diagram illustrates a linear correlation where an increase in weather delay minutes leads to a proportional increase in total arrival delay minutes.&#10;&#10;AI-generated content may be incorrect.">
            <a:extLst>
              <a:ext uri="{FF2B5EF4-FFF2-40B4-BE49-F238E27FC236}">
                <a16:creationId xmlns:a16="http://schemas.microsoft.com/office/drawing/2014/main" id="{86C07813-9E71-688A-A0ED-06E5EA317A90}"/>
              </a:ext>
            </a:extLst>
          </p:cNvPr>
          <p:cNvPicPr>
            <a:picLocks noChangeAspect="1"/>
          </p:cNvPicPr>
          <p:nvPr/>
        </p:nvPicPr>
        <p:blipFill>
          <a:blip r:embed="rId2"/>
          <a:stretch>
            <a:fillRect/>
          </a:stretch>
        </p:blipFill>
        <p:spPr>
          <a:xfrm>
            <a:off x="8305800" y="3467100"/>
            <a:ext cx="9664004" cy="5931003"/>
          </a:xfrm>
          <a:prstGeom prst="rect">
            <a:avLst/>
          </a:prstGeom>
        </p:spPr>
      </p:pic>
    </p:spTree>
    <p:extLst>
      <p:ext uri="{BB962C8B-B14F-4D97-AF65-F5344CB8AC3E}">
        <p14:creationId xmlns:p14="http://schemas.microsoft.com/office/powerpoint/2010/main" val="307003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a:extLst>
            <a:ext uri="{FF2B5EF4-FFF2-40B4-BE49-F238E27FC236}">
              <a16:creationId xmlns:a16="http://schemas.microsoft.com/office/drawing/2014/main" id="{D3132B7E-ECB2-9108-6C1B-377B769917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951009-8AB9-34EB-99C0-FC7F003EC5B7}"/>
              </a:ext>
            </a:extLst>
          </p:cNvPr>
          <p:cNvGrpSpPr/>
          <p:nvPr/>
        </p:nvGrpSpPr>
        <p:grpSpPr>
          <a:xfrm>
            <a:off x="0" y="576841"/>
            <a:ext cx="18288000" cy="2058570"/>
            <a:chOff x="0" y="0"/>
            <a:chExt cx="3738189" cy="420785"/>
          </a:xfrm>
        </p:grpSpPr>
        <p:sp>
          <p:nvSpPr>
            <p:cNvPr id="3" name="Freeform 3">
              <a:extLst>
                <a:ext uri="{FF2B5EF4-FFF2-40B4-BE49-F238E27FC236}">
                  <a16:creationId xmlns:a16="http://schemas.microsoft.com/office/drawing/2014/main" id="{D3D3418F-4A9F-7046-A213-00BFF27C9481}"/>
                </a:ext>
              </a:extLst>
            </p:cNvPr>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a:extLst>
                <a:ext uri="{FF2B5EF4-FFF2-40B4-BE49-F238E27FC236}">
                  <a16:creationId xmlns:a16="http://schemas.microsoft.com/office/drawing/2014/main" id="{A4A71C0B-6BF6-4FEA-FF89-B3947D928A5E}"/>
                </a:ext>
              </a:extLst>
            </p:cNvPr>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7" name="TextBox 7">
            <a:extLst>
              <a:ext uri="{FF2B5EF4-FFF2-40B4-BE49-F238E27FC236}">
                <a16:creationId xmlns:a16="http://schemas.microsoft.com/office/drawing/2014/main" id="{22EB264B-552F-0AB9-1FE0-E9A039E8C5F2}"/>
              </a:ext>
            </a:extLst>
          </p:cNvPr>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
        <p:nvSpPr>
          <p:cNvPr id="6" name="TextBox 5">
            <a:extLst>
              <a:ext uri="{FF2B5EF4-FFF2-40B4-BE49-F238E27FC236}">
                <a16:creationId xmlns:a16="http://schemas.microsoft.com/office/drawing/2014/main" id="{6068EF06-C37F-0771-283D-76B10ACB3EE6}"/>
              </a:ext>
            </a:extLst>
          </p:cNvPr>
          <p:cNvSpPr txBox="1"/>
          <p:nvPr/>
        </p:nvSpPr>
        <p:spPr>
          <a:xfrm>
            <a:off x="1524000" y="3028728"/>
            <a:ext cx="9157648" cy="523220"/>
          </a:xfrm>
          <a:prstGeom prst="rect">
            <a:avLst/>
          </a:prstGeom>
          <a:noFill/>
        </p:spPr>
        <p:txBody>
          <a:bodyPr wrap="square">
            <a:spAutoFit/>
          </a:bodyPr>
          <a:lstStyle/>
          <a:p>
            <a:r>
              <a:rPr lang="en-US" sz="2800" dirty="0"/>
              <a:t>Seasonal Shifts in Delay Causes</a:t>
            </a:r>
            <a:endParaRPr lang="en-IN" sz="2800" dirty="0"/>
          </a:p>
        </p:txBody>
      </p:sp>
      <p:sp>
        <p:nvSpPr>
          <p:cNvPr id="11" name="TextBox 10">
            <a:extLst>
              <a:ext uri="{FF2B5EF4-FFF2-40B4-BE49-F238E27FC236}">
                <a16:creationId xmlns:a16="http://schemas.microsoft.com/office/drawing/2014/main" id="{6B7C3CF3-6BD8-54AF-81A4-1E395F92DAB8}"/>
              </a:ext>
            </a:extLst>
          </p:cNvPr>
          <p:cNvSpPr txBox="1"/>
          <p:nvPr/>
        </p:nvSpPr>
        <p:spPr>
          <a:xfrm>
            <a:off x="11506200" y="4533900"/>
            <a:ext cx="6324600" cy="4154984"/>
          </a:xfrm>
          <a:prstGeom prst="rect">
            <a:avLst/>
          </a:prstGeom>
          <a:noFill/>
        </p:spPr>
        <p:txBody>
          <a:bodyPr wrap="square">
            <a:spAutoFit/>
          </a:bodyPr>
          <a:lstStyle/>
          <a:p>
            <a:pPr marL="342900" indent="-342900">
              <a:buFont typeface="Arial" panose="020B0604020202020204" pitchFamily="34" charset="0"/>
              <a:buChar char="•"/>
            </a:pPr>
            <a:r>
              <a:rPr lang="en-US" sz="2400" dirty="0"/>
              <a:t>Dynamic Proportions: Delay causes are not static; they fluctuate based on the operational season.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Winter Vulnerability: Weather (green) and NAS bottlenecks (blue) consume a visibly larger proportion of total delays in Winter.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Constant Factors: 'Late Aircraft' domino effects (gray) remain the dominant disruption regardless of the season.</a:t>
            </a:r>
            <a:endParaRPr lang="en-IN" sz="2400" dirty="0"/>
          </a:p>
        </p:txBody>
      </p:sp>
      <p:pic>
        <p:nvPicPr>
          <p:cNvPr id="8" name="Picture 7" descr="The diagram shows a breakdown of various delay causes for a specific season, with weather delay being the most significant at 80%, followed by carrier delay at 60%, and late aircraft delay at 40%.&#10;&#10;AI-generated content may be incorrect.">
            <a:extLst>
              <a:ext uri="{FF2B5EF4-FFF2-40B4-BE49-F238E27FC236}">
                <a16:creationId xmlns:a16="http://schemas.microsoft.com/office/drawing/2014/main" id="{00D5EE64-A19E-79B2-91F3-2423DCB979CB}"/>
              </a:ext>
            </a:extLst>
          </p:cNvPr>
          <p:cNvPicPr>
            <a:picLocks noChangeAspect="1"/>
          </p:cNvPicPr>
          <p:nvPr/>
        </p:nvPicPr>
        <p:blipFill>
          <a:blip r:embed="rId2"/>
          <a:stretch>
            <a:fillRect/>
          </a:stretch>
        </p:blipFill>
        <p:spPr>
          <a:xfrm>
            <a:off x="838200" y="3960052"/>
            <a:ext cx="10183504" cy="5750107"/>
          </a:xfrm>
          <a:prstGeom prst="rect">
            <a:avLst/>
          </a:prstGeom>
        </p:spPr>
      </p:pic>
    </p:spTree>
    <p:extLst>
      <p:ext uri="{BB962C8B-B14F-4D97-AF65-F5344CB8AC3E}">
        <p14:creationId xmlns:p14="http://schemas.microsoft.com/office/powerpoint/2010/main" val="412282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a:extLst>
            <a:ext uri="{FF2B5EF4-FFF2-40B4-BE49-F238E27FC236}">
              <a16:creationId xmlns:a16="http://schemas.microsoft.com/office/drawing/2014/main" id="{0A9784BA-9C41-7140-8CA2-8B5C2133BB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107315-F7F8-69DA-A4F2-D4284CFF11E3}"/>
              </a:ext>
            </a:extLst>
          </p:cNvPr>
          <p:cNvGrpSpPr/>
          <p:nvPr/>
        </p:nvGrpSpPr>
        <p:grpSpPr>
          <a:xfrm>
            <a:off x="0" y="576841"/>
            <a:ext cx="18288000" cy="2058570"/>
            <a:chOff x="0" y="0"/>
            <a:chExt cx="3738189" cy="420785"/>
          </a:xfrm>
        </p:grpSpPr>
        <p:sp>
          <p:nvSpPr>
            <p:cNvPr id="3" name="Freeform 3">
              <a:extLst>
                <a:ext uri="{FF2B5EF4-FFF2-40B4-BE49-F238E27FC236}">
                  <a16:creationId xmlns:a16="http://schemas.microsoft.com/office/drawing/2014/main" id="{44058612-1B55-2F31-0F25-934130115777}"/>
                </a:ext>
              </a:extLst>
            </p:cNvPr>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a:extLst>
                <a:ext uri="{FF2B5EF4-FFF2-40B4-BE49-F238E27FC236}">
                  <a16:creationId xmlns:a16="http://schemas.microsoft.com/office/drawing/2014/main" id="{152FDC22-6D2C-429E-9492-1F5E373C1E1E}"/>
                </a:ext>
              </a:extLst>
            </p:cNvPr>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a:extLst>
              <a:ext uri="{FF2B5EF4-FFF2-40B4-BE49-F238E27FC236}">
                <a16:creationId xmlns:a16="http://schemas.microsoft.com/office/drawing/2014/main" id="{003688DC-3C51-78D9-E089-E155401EE715}"/>
              </a:ext>
            </a:extLst>
          </p:cNvPr>
          <p:cNvSpPr txBox="1"/>
          <p:nvPr/>
        </p:nvSpPr>
        <p:spPr>
          <a:xfrm>
            <a:off x="2022149" y="2655777"/>
            <a:ext cx="10093651" cy="6437275"/>
          </a:xfrm>
          <a:prstGeom prst="rect">
            <a:avLst/>
          </a:prstGeom>
        </p:spPr>
        <p:txBody>
          <a:bodyPr wrap="square" lIns="0" tIns="0" rIns="0" bIns="0" rtlCol="0" anchor="t">
            <a:spAutoFit/>
          </a:bodyPr>
          <a:lstStyle/>
          <a:p>
            <a:pPr algn="l">
              <a:lnSpc>
                <a:spcPts val="4235"/>
              </a:lnSpc>
            </a:pPr>
            <a:endParaRPr sz="1200" dirty="0"/>
          </a:p>
          <a:p>
            <a:pPr marL="898068" lvl="1" indent="-571500">
              <a:lnSpc>
                <a:spcPts val="4235"/>
              </a:lnSpc>
              <a:buFont typeface="Arial" panose="020B0604020202020204" pitchFamily="34" charset="0"/>
              <a:buChar char="•"/>
            </a:pPr>
            <a:r>
              <a:rPr lang="en-US" sz="3200" dirty="0">
                <a:latin typeface="Times New Roman" panose="02020603050405020304" pitchFamily="18" charset="0"/>
                <a:ea typeface="Poppins Italics"/>
                <a:cs typeface="Times New Roman" panose="02020603050405020304" pitchFamily="18" charset="0"/>
                <a:sym typeface="Poppins Italics"/>
              </a:rPr>
              <a:t>Successfully cleaned "ghost rows" ensuring strict structural integrity across all 1.6+ million rows.</a:t>
            </a:r>
          </a:p>
          <a:p>
            <a:pPr marL="898068" lvl="1" indent="-571500">
              <a:lnSpc>
                <a:spcPts val="4235"/>
              </a:lnSpc>
              <a:buFont typeface="Arial" panose="020B0604020202020204" pitchFamily="34" charset="0"/>
              <a:buChar char="•"/>
            </a:pPr>
            <a:endParaRPr lang="en-US" sz="3200" dirty="0">
              <a:latin typeface="Times New Roman" panose="02020603050405020304" pitchFamily="18" charset="0"/>
              <a:ea typeface="Poppins Italics"/>
              <a:cs typeface="Times New Roman" panose="02020603050405020304" pitchFamily="18" charset="0"/>
              <a:sym typeface="Poppins Italics"/>
            </a:endParaRPr>
          </a:p>
          <a:p>
            <a:pPr marL="898068" lvl="1" indent="-571500">
              <a:lnSpc>
                <a:spcPts val="4235"/>
              </a:lnSpc>
              <a:buFont typeface="Arial" panose="020B0604020202020204" pitchFamily="34" charset="0"/>
              <a:buChar char="•"/>
            </a:pPr>
            <a:r>
              <a:rPr lang="en-US" sz="3200" dirty="0">
                <a:latin typeface="Times New Roman" panose="02020603050405020304" pitchFamily="18" charset="0"/>
                <a:ea typeface="Poppins Italics"/>
                <a:cs typeface="Times New Roman" panose="02020603050405020304" pitchFamily="18" charset="0"/>
                <a:sym typeface="Poppins Italics"/>
              </a:rPr>
              <a:t>Converted string-based time entries (e.g., '06:00') into continuous "minutes past midnight" numerical features for mathematical scaling.</a:t>
            </a:r>
          </a:p>
          <a:p>
            <a:pPr marL="898068" lvl="1" indent="-571500">
              <a:lnSpc>
                <a:spcPts val="4235"/>
              </a:lnSpc>
              <a:buFont typeface="Arial" panose="020B0604020202020204" pitchFamily="34" charset="0"/>
              <a:buChar char="•"/>
            </a:pPr>
            <a:endParaRPr lang="en-US" sz="3200" dirty="0">
              <a:latin typeface="Times New Roman" panose="02020603050405020304" pitchFamily="18" charset="0"/>
              <a:ea typeface="Poppins Italics"/>
              <a:cs typeface="Times New Roman" panose="02020603050405020304" pitchFamily="18" charset="0"/>
              <a:sym typeface="Poppins Italics"/>
            </a:endParaRPr>
          </a:p>
          <a:p>
            <a:pPr marL="898068" lvl="1" indent="-571500">
              <a:lnSpc>
                <a:spcPts val="4235"/>
              </a:lnSpc>
              <a:buFont typeface="Arial" panose="020B0604020202020204" pitchFamily="34" charset="0"/>
              <a:buChar char="•"/>
            </a:pPr>
            <a:r>
              <a:rPr lang="en-US" sz="3200" dirty="0">
                <a:latin typeface="Times New Roman" panose="02020603050405020304" pitchFamily="18" charset="0"/>
                <a:ea typeface="Poppins Italics"/>
                <a:cs typeface="Times New Roman" panose="02020603050405020304" pitchFamily="18" charset="0"/>
                <a:sym typeface="Poppins Italics"/>
              </a:rPr>
              <a:t>Engineered a macro-level SEASON feature to transition from granular daily data to high-level operational trends.</a:t>
            </a:r>
          </a:p>
          <a:p>
            <a:pPr algn="l">
              <a:lnSpc>
                <a:spcPts val="4235"/>
              </a:lnSpc>
            </a:pPr>
            <a:endParaRPr lang="en-US" sz="3025" i="1" dirty="0">
              <a:solidFill>
                <a:srgbClr val="545454"/>
              </a:solidFill>
              <a:latin typeface="Poppins Italics"/>
              <a:ea typeface="Poppins Italics"/>
              <a:cs typeface="Poppins Italics"/>
              <a:sym typeface="Poppins Italics"/>
            </a:endParaRPr>
          </a:p>
        </p:txBody>
      </p:sp>
      <p:sp>
        <p:nvSpPr>
          <p:cNvPr id="6" name="Freeform 6">
            <a:extLst>
              <a:ext uri="{FF2B5EF4-FFF2-40B4-BE49-F238E27FC236}">
                <a16:creationId xmlns:a16="http://schemas.microsoft.com/office/drawing/2014/main" id="{C543EAF1-106C-B90A-5FA2-A5E3FAB370C1}"/>
              </a:ext>
            </a:extLst>
          </p:cNvPr>
          <p:cNvSpPr/>
          <p:nvPr/>
        </p:nvSpPr>
        <p:spPr>
          <a:xfrm>
            <a:off x="457287" y="3118147"/>
            <a:ext cx="1765895" cy="2312481"/>
          </a:xfrm>
          <a:custGeom>
            <a:avLst/>
            <a:gdLst/>
            <a:ahLst/>
            <a:cxnLst/>
            <a:rect l="l" t="t" r="r" b="b"/>
            <a:pathLst>
              <a:path w="1765895" h="2312481">
                <a:moveTo>
                  <a:pt x="0" y="0"/>
                </a:moveTo>
                <a:lnTo>
                  <a:pt x="1765895" y="0"/>
                </a:lnTo>
                <a:lnTo>
                  <a:pt x="1765895" y="2312481"/>
                </a:lnTo>
                <a:lnTo>
                  <a:pt x="0" y="23124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a:extLst>
              <a:ext uri="{FF2B5EF4-FFF2-40B4-BE49-F238E27FC236}">
                <a16:creationId xmlns:a16="http://schemas.microsoft.com/office/drawing/2014/main" id="{47A44655-0CF3-5F7D-8556-28B18E8CE577}"/>
              </a:ext>
            </a:extLst>
          </p:cNvPr>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pic>
        <p:nvPicPr>
          <p:cNvPr id="9" name="Picture 8" descr="The diagram illustrates a before-and-after comparison, showing the transition from fragmented, error-prone data to structured, duplicate-free data.&#10;&#10;AI-generated content may be incorrect.">
            <a:extLst>
              <a:ext uri="{FF2B5EF4-FFF2-40B4-BE49-F238E27FC236}">
                <a16:creationId xmlns:a16="http://schemas.microsoft.com/office/drawing/2014/main" id="{DD2EA4E7-BEFC-CB39-99CE-CADEC9D97D46}"/>
              </a:ext>
            </a:extLst>
          </p:cNvPr>
          <p:cNvPicPr>
            <a:picLocks noChangeAspect="1"/>
          </p:cNvPicPr>
          <p:nvPr/>
        </p:nvPicPr>
        <p:blipFill>
          <a:blip r:embed="rId4"/>
          <a:stretch>
            <a:fillRect/>
          </a:stretch>
        </p:blipFill>
        <p:spPr>
          <a:xfrm>
            <a:off x="12327392" y="4914900"/>
            <a:ext cx="5401429" cy="2524477"/>
          </a:xfrm>
          <a:prstGeom prst="rect">
            <a:avLst/>
          </a:prstGeom>
        </p:spPr>
      </p:pic>
    </p:spTree>
    <p:extLst>
      <p:ext uri="{BB962C8B-B14F-4D97-AF65-F5344CB8AC3E}">
        <p14:creationId xmlns:p14="http://schemas.microsoft.com/office/powerpoint/2010/main" val="411324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2501710" y="3057596"/>
            <a:ext cx="12725400" cy="5862182"/>
          </a:xfrm>
          <a:prstGeom prst="rect">
            <a:avLst/>
          </a:prstGeom>
        </p:spPr>
        <p:txBody>
          <a:bodyPr wrap="square" lIns="0" tIns="0" rIns="0" bIns="0" rtlCol="0" anchor="t">
            <a:spAutoFit/>
          </a:bodyPr>
          <a:lstStyle/>
          <a:p>
            <a:pPr marL="571500" indent="-5715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Summary statistics: </a:t>
            </a:r>
            <a:r>
              <a:rPr lang="en-US" sz="2800" dirty="0">
                <a:latin typeface="Times New Roman" panose="02020603050405020304" pitchFamily="18" charset="0"/>
                <a:ea typeface="Poppins Italics"/>
                <a:cs typeface="Times New Roman" panose="02020603050405020304" pitchFamily="18" charset="0"/>
                <a:sym typeface="Poppins Italics"/>
              </a:rPr>
              <a:t>Most flights arrive perfectly on time; extreme multi-hour delays are statistically rare but highly disruptive.</a:t>
            </a:r>
          </a:p>
          <a:p>
            <a:pPr marL="571500" indent="-571500">
              <a:lnSpc>
                <a:spcPts val="4235"/>
              </a:lnSpc>
              <a:buFont typeface="Arial" panose="020B0604020202020204" pitchFamily="34" charset="0"/>
              <a:buChar char="•"/>
            </a:pPr>
            <a:endParaRPr lang="en-US" sz="28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Distribution analysis: </a:t>
            </a:r>
            <a:r>
              <a:rPr lang="en-US" sz="2800" dirty="0">
                <a:latin typeface="Times New Roman" panose="02020603050405020304" pitchFamily="18" charset="0"/>
                <a:ea typeface="Poppins Italics"/>
                <a:cs typeface="Times New Roman" panose="02020603050405020304" pitchFamily="18" charset="0"/>
                <a:sym typeface="Poppins Italics"/>
              </a:rPr>
              <a:t>DEP_DELAY and ARR_DELAY follow a strict, heavy-tailed Power Law distribution.</a:t>
            </a:r>
          </a:p>
          <a:p>
            <a:pPr marL="571500" indent="-571500">
              <a:lnSpc>
                <a:spcPts val="4235"/>
              </a:lnSpc>
              <a:buFont typeface="Arial" panose="020B0604020202020204" pitchFamily="34" charset="0"/>
              <a:buChar char="•"/>
            </a:pPr>
            <a:endParaRPr lang="en-US" sz="2800" b="1"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Correlation findings: </a:t>
            </a:r>
            <a:r>
              <a:rPr lang="en-US" sz="2800" dirty="0">
                <a:latin typeface="Times New Roman" panose="02020603050405020304" pitchFamily="18" charset="0"/>
                <a:ea typeface="Poppins Italics"/>
                <a:cs typeface="Times New Roman" panose="02020603050405020304" pitchFamily="18" charset="0"/>
                <a:sym typeface="Poppins Italics"/>
              </a:rPr>
              <a:t>A near 1:1 direct mathematical correlation exists between Departure Delays and Arrival Delays.</a:t>
            </a:r>
          </a:p>
          <a:p>
            <a:pPr marL="571500" indent="-571500">
              <a:lnSpc>
                <a:spcPts val="4235"/>
              </a:lnSpc>
              <a:buFont typeface="Arial" panose="020B0604020202020204" pitchFamily="34" charset="0"/>
              <a:buChar char="•"/>
            </a:pPr>
            <a:endParaRPr lang="en-US" sz="28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Key insights: </a:t>
            </a:r>
            <a:r>
              <a:rPr lang="en-US" sz="2800" dirty="0">
                <a:latin typeface="Times New Roman" panose="02020603050405020304" pitchFamily="18" charset="0"/>
                <a:ea typeface="Poppins Italics"/>
                <a:cs typeface="Times New Roman" panose="02020603050405020304" pitchFamily="18" charset="0"/>
                <a:sym typeface="Poppins Italics"/>
              </a:rPr>
              <a:t>Delay causes like Weather and National Airspace System (NAS) bottlenecks act independently and do not trigger one another</a:t>
            </a:r>
          </a:p>
        </p:txBody>
      </p:sp>
      <p:sp>
        <p:nvSpPr>
          <p:cNvPr id="6" name="Freeform 6"/>
          <p:cNvSpPr/>
          <p:nvPr/>
        </p:nvSpPr>
        <p:spPr>
          <a:xfrm>
            <a:off x="457287" y="3118147"/>
            <a:ext cx="1765895" cy="2312481"/>
          </a:xfrm>
          <a:custGeom>
            <a:avLst/>
            <a:gdLst/>
            <a:ahLst/>
            <a:cxnLst/>
            <a:rect l="l" t="t" r="r" b="b"/>
            <a:pathLst>
              <a:path w="1765895" h="2312481">
                <a:moveTo>
                  <a:pt x="0" y="0"/>
                </a:moveTo>
                <a:lnTo>
                  <a:pt x="1765895" y="0"/>
                </a:lnTo>
                <a:lnTo>
                  <a:pt x="1765895" y="2312481"/>
                </a:lnTo>
                <a:lnTo>
                  <a:pt x="0" y="23124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62279" y="3424008"/>
            <a:ext cx="2201327" cy="1929163"/>
          </a:xfrm>
          <a:custGeom>
            <a:avLst/>
            <a:gdLst/>
            <a:ahLst/>
            <a:cxnLst/>
            <a:rect l="l" t="t" r="r" b="b"/>
            <a:pathLst>
              <a:path w="2201327" h="1929163">
                <a:moveTo>
                  <a:pt x="0" y="0"/>
                </a:moveTo>
                <a:lnTo>
                  <a:pt x="2201327" y="0"/>
                </a:lnTo>
                <a:lnTo>
                  <a:pt x="2201327" y="1929163"/>
                </a:lnTo>
                <a:lnTo>
                  <a:pt x="0" y="1929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2895600" y="3044210"/>
            <a:ext cx="11582400" cy="5335563"/>
          </a:xfrm>
          <a:prstGeom prst="rect">
            <a:avLst/>
          </a:prstGeom>
        </p:spPr>
        <p:txBody>
          <a:bodyPr wrap="square" lIns="0" tIns="0" rIns="0" bIns="0" rtlCol="0" anchor="t">
            <a:spAutoFit/>
          </a:bodyPr>
          <a:lstStyle/>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Data quality improvements</a:t>
            </a:r>
            <a:r>
              <a:rPr lang="en-US" sz="2800" dirty="0">
                <a:latin typeface="Times New Roman" panose="02020603050405020304" pitchFamily="18" charset="0"/>
                <a:ea typeface="Poppins Italics"/>
                <a:cs typeface="Times New Roman" panose="02020603050405020304" pitchFamily="18" charset="0"/>
                <a:sym typeface="Poppins Italics"/>
              </a:rPr>
              <a:t>: Safely tamed massive outliers and successfully handled missing </a:t>
            </a:r>
            <a:r>
              <a:rPr lang="en-US" sz="2800" dirty="0" err="1">
                <a:latin typeface="Times New Roman" panose="02020603050405020304" pitchFamily="18" charset="0"/>
                <a:ea typeface="Poppins Italics"/>
                <a:cs typeface="Times New Roman" panose="02020603050405020304" pitchFamily="18" charset="0"/>
                <a:sym typeface="Poppins Italics"/>
              </a:rPr>
              <a:t>NaN</a:t>
            </a:r>
            <a:r>
              <a:rPr lang="en-US" sz="2800" dirty="0">
                <a:latin typeface="Times New Roman" panose="02020603050405020304" pitchFamily="18" charset="0"/>
                <a:ea typeface="Poppins Italics"/>
                <a:cs typeface="Times New Roman" panose="02020603050405020304" pitchFamily="18" charset="0"/>
                <a:sym typeface="Poppins Italics"/>
              </a:rPr>
              <a:t> values without losing valuable historical records.</a:t>
            </a:r>
          </a:p>
          <a:p>
            <a:pPr marL="457200" indent="-457200">
              <a:lnSpc>
                <a:spcPts val="4235"/>
              </a:lnSpc>
              <a:buFont typeface="Arial" panose="020B0604020202020204" pitchFamily="34" charset="0"/>
              <a:buChar char="•"/>
            </a:pPr>
            <a:endParaRPr lang="en-US" sz="28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Key EDA findings: </a:t>
            </a:r>
            <a:r>
              <a:rPr lang="en-US" sz="2800" dirty="0">
                <a:latin typeface="Times New Roman" panose="02020603050405020304" pitchFamily="18" charset="0"/>
                <a:ea typeface="Poppins Italics"/>
                <a:cs typeface="Times New Roman" panose="02020603050405020304" pitchFamily="18" charset="0"/>
                <a:sym typeface="Poppins Italics"/>
              </a:rPr>
              <a:t>Bivariate density mapping (using alpha blending) proved that while late departures usually mean late arrivals, pilots frequently "make up time" in the air</a:t>
            </a:r>
          </a:p>
          <a:p>
            <a:pPr marL="457200" indent="-457200">
              <a:lnSpc>
                <a:spcPts val="4235"/>
              </a:lnSpc>
              <a:buFont typeface="Arial" panose="020B0604020202020204" pitchFamily="34" charset="0"/>
              <a:buChar char="•"/>
            </a:pPr>
            <a:endParaRPr lang="en-US" sz="28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Dataset readiness status: </a:t>
            </a:r>
            <a:r>
              <a:rPr lang="en-US" sz="2800" dirty="0">
                <a:latin typeface="Times New Roman" panose="02020603050405020304" pitchFamily="18" charset="0"/>
                <a:ea typeface="Poppins Italics"/>
                <a:cs typeface="Times New Roman" panose="02020603050405020304" pitchFamily="18" charset="0"/>
                <a:sym typeface="Poppins Italics"/>
              </a:rPr>
              <a:t>The dataset has successfully bypassed the "Curse of Dimensionality" via smart Label Encoding, making it 100% scaled, un-skewed, and mathematically ready for Week 7.</a:t>
            </a:r>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Expected Final 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303816" y="3187394"/>
            <a:ext cx="2395573" cy="2260550"/>
          </a:xfrm>
          <a:custGeom>
            <a:avLst/>
            <a:gdLst/>
            <a:ahLst/>
            <a:cxnLst/>
            <a:rect l="l" t="t" r="r" b="b"/>
            <a:pathLst>
              <a:path w="2395573" h="2260550">
                <a:moveTo>
                  <a:pt x="0" y="0"/>
                </a:moveTo>
                <a:lnTo>
                  <a:pt x="2395573" y="0"/>
                </a:lnTo>
                <a:lnTo>
                  <a:pt x="2395573" y="2260550"/>
                </a:lnTo>
                <a:lnTo>
                  <a:pt x="0" y="2260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6" name="Table 6"/>
          <p:cNvGraphicFramePr>
            <a:graphicFrameLocks noGrp="1"/>
          </p:cNvGraphicFramePr>
          <p:nvPr>
            <p:extLst>
              <p:ext uri="{D42A27DB-BD31-4B8C-83A1-F6EECF244321}">
                <p14:modId xmlns:p14="http://schemas.microsoft.com/office/powerpoint/2010/main" val="2108988851"/>
              </p:ext>
            </p:extLst>
          </p:nvPr>
        </p:nvGraphicFramePr>
        <p:xfrm>
          <a:off x="2971801" y="2930228"/>
          <a:ext cx="13354940" cy="6556670"/>
        </p:xfrm>
        <a:graphic>
          <a:graphicData uri="http://schemas.openxmlformats.org/drawingml/2006/table">
            <a:tbl>
              <a:tblPr/>
              <a:tblGrid>
                <a:gridCol w="7119235">
                  <a:extLst>
                    <a:ext uri="{9D8B030D-6E8A-4147-A177-3AD203B41FA5}">
                      <a16:colId xmlns:a16="http://schemas.microsoft.com/office/drawing/2014/main" val="20000"/>
                    </a:ext>
                  </a:extLst>
                </a:gridCol>
                <a:gridCol w="6235705">
                  <a:extLst>
                    <a:ext uri="{9D8B030D-6E8A-4147-A177-3AD203B41FA5}">
                      <a16:colId xmlns:a16="http://schemas.microsoft.com/office/drawing/2014/main" val="20001"/>
                    </a:ext>
                  </a:extLst>
                </a:gridCol>
              </a:tblGrid>
              <a:tr h="1187503">
                <a:tc>
                  <a:txBody>
                    <a:bodyPr/>
                    <a:lstStyle/>
                    <a:p>
                      <a:pPr algn="ctr">
                        <a:lnSpc>
                          <a:spcPts val="5039"/>
                        </a:lnSpc>
                        <a:defRPr/>
                      </a:pPr>
                      <a:r>
                        <a:rPr lang="en-US" sz="3599">
                          <a:solidFill>
                            <a:srgbClr val="000000"/>
                          </a:solidFill>
                          <a:latin typeface="Poppins"/>
                          <a:ea typeface="Poppins"/>
                          <a:cs typeface="Poppins"/>
                          <a:sym typeface="Poppins"/>
                        </a:rPr>
                        <a:t>Team Member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339"/>
                        </a:lnSpc>
                        <a:defRPr/>
                      </a:pPr>
                      <a:r>
                        <a:rPr lang="en-US" sz="3099">
                          <a:solidFill>
                            <a:srgbClr val="000000"/>
                          </a:solidFill>
                          <a:latin typeface="Poppins"/>
                          <a:ea typeface="Poppins"/>
                          <a:cs typeface="Poppins"/>
                          <a:sym typeface="Poppins"/>
                        </a:rPr>
                        <a:t>Roles &amp; Responsibilities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10751">
                <a:tc>
                  <a:txBody>
                    <a:bodyPr/>
                    <a:lstStyle/>
                    <a:p>
                      <a:pPr algn="ctr">
                        <a:lnSpc>
                          <a:spcPts val="2800"/>
                        </a:lnSpc>
                        <a:defRPr/>
                      </a:pPr>
                      <a:r>
                        <a:rPr lang="en-US" sz="4000" dirty="0"/>
                        <a:t>KARTHICK.N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t>Feature Engineering Pipeline, Transformation Math (Cube Root/Scaling), and Error Debugging.</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3766">
                <a:tc>
                  <a:txBody>
                    <a:bodyPr/>
                    <a:lstStyle/>
                    <a:p>
                      <a:pPr algn="ctr">
                        <a:lnSpc>
                          <a:spcPts val="2800"/>
                        </a:lnSpc>
                        <a:defRPr/>
                      </a:pPr>
                      <a:r>
                        <a:rPr lang="en-US" sz="4000" dirty="0"/>
                        <a:t>MANOJ.M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800" dirty="0"/>
                        <a:t> Exploratory Data Analysis, Bivariate Density Plotting, and Seaborn Visualizations.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10751">
                <a:tc>
                  <a:txBody>
                    <a:bodyPr/>
                    <a:lstStyle/>
                    <a:p>
                      <a:pPr algn="ctr">
                        <a:lnSpc>
                          <a:spcPts val="2800"/>
                        </a:lnSpc>
                        <a:defRPr/>
                      </a:pPr>
                      <a:r>
                        <a:rPr lang="en-US" sz="4000" dirty="0"/>
                        <a:t>NEHA.N.K</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100" dirty="0"/>
                        <a:t> </a:t>
                      </a:r>
                      <a:r>
                        <a:rPr lang="en-US" sz="2000" dirty="0"/>
                        <a:t>Data Cleaning, Outlier Capping, and Missing Value Imputation.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03766">
                <a:tc>
                  <a:txBody>
                    <a:bodyPr/>
                    <a:lstStyle/>
                    <a:p>
                      <a:pPr algn="ctr">
                        <a:lnSpc>
                          <a:spcPts val="2800"/>
                        </a:lnSpc>
                        <a:defRPr/>
                      </a:pPr>
                      <a:r>
                        <a:rPr lang="en-US" sz="4000" dirty="0"/>
                        <a:t>PRANESH.M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800" dirty="0"/>
                        <a:t>Data Hunting, GitHub Repository Management, and Presentation Formatting.</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40133">
                <a:tc>
                  <a:txBody>
                    <a:bodyPr/>
                    <a:lstStyle/>
                    <a:p>
                      <a:pPr algn="ctr">
                        <a:lnSpc>
                          <a:spcPts val="280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Roles &amp; Responsibilities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33934" y="3093509"/>
            <a:ext cx="2249599" cy="2229148"/>
          </a:xfrm>
          <a:custGeom>
            <a:avLst/>
            <a:gdLst/>
            <a:ahLst/>
            <a:cxnLst/>
            <a:rect l="l" t="t" r="r" b="b"/>
            <a:pathLst>
              <a:path w="2249599" h="2229148">
                <a:moveTo>
                  <a:pt x="0" y="0"/>
                </a:moveTo>
                <a:lnTo>
                  <a:pt x="2249598" y="0"/>
                </a:lnTo>
                <a:lnTo>
                  <a:pt x="2249598" y="2229148"/>
                </a:lnTo>
                <a:lnTo>
                  <a:pt x="0" y="22291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 Challenges Faced</a:t>
            </a:r>
          </a:p>
        </p:txBody>
      </p:sp>
      <p:sp>
        <p:nvSpPr>
          <p:cNvPr id="8" name="TextBox 6">
            <a:extLst>
              <a:ext uri="{FF2B5EF4-FFF2-40B4-BE49-F238E27FC236}">
                <a16:creationId xmlns:a16="http://schemas.microsoft.com/office/drawing/2014/main" id="{B54E1CF7-AEBF-D3C5-5562-74CBCB2E867D}"/>
              </a:ext>
            </a:extLst>
          </p:cNvPr>
          <p:cNvSpPr txBox="1"/>
          <p:nvPr/>
        </p:nvSpPr>
        <p:spPr>
          <a:xfrm>
            <a:off x="2819400" y="2958510"/>
            <a:ext cx="13792200" cy="5886227"/>
          </a:xfrm>
          <a:prstGeom prst="rect">
            <a:avLst/>
          </a:prstGeom>
        </p:spPr>
        <p:txBody>
          <a:bodyPr wrap="square" lIns="0" tIns="0" rIns="0" bIns="0" rtlCol="0" anchor="t">
            <a:spAutoFit/>
          </a:bodyPr>
          <a:lstStyle/>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Data quality issues</a:t>
            </a:r>
            <a:r>
              <a:rPr lang="en-US" sz="2800" dirty="0">
                <a:latin typeface="Times New Roman" panose="02020603050405020304" pitchFamily="18" charset="0"/>
                <a:ea typeface="Poppins Italics"/>
                <a:cs typeface="Times New Roman" panose="02020603050405020304" pitchFamily="18" charset="0"/>
                <a:sym typeface="Poppins Italics"/>
              </a:rPr>
              <a:t>: Time columns were improperly formatted as text strings (HH:MM), crashing standard scalers until custom conversion logic was written.</a:t>
            </a:r>
          </a:p>
          <a:p>
            <a:pPr marL="457200" indent="-457200">
              <a:lnSpc>
                <a:spcPts val="4235"/>
              </a:lnSpc>
              <a:buFont typeface="Arial" panose="020B0604020202020204" pitchFamily="34" charset="0"/>
              <a:buChar char="•"/>
            </a:pPr>
            <a:endParaRPr lang="en-US" sz="2800" b="1"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Outliers: </a:t>
            </a:r>
            <a:r>
              <a:rPr lang="en-US" sz="2800" dirty="0">
                <a:latin typeface="Times New Roman" panose="02020603050405020304" pitchFamily="18" charset="0"/>
                <a:ea typeface="Poppins Italics"/>
                <a:cs typeface="Times New Roman" panose="02020603050405020304" pitchFamily="18" charset="0"/>
                <a:sym typeface="Poppins Italics"/>
              </a:rPr>
              <a:t>Standard visualization plots were completely illegible due to heavy right-tailed skewness (delays up to 24 hours).</a:t>
            </a:r>
          </a:p>
          <a:p>
            <a:pPr marL="457200" indent="-457200">
              <a:lnSpc>
                <a:spcPts val="4235"/>
              </a:lnSpc>
              <a:buFont typeface="Arial" panose="020B0604020202020204" pitchFamily="34" charset="0"/>
              <a:buChar char="•"/>
            </a:pPr>
            <a:endParaRPr lang="en-US" sz="28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Feature selection difficulty: </a:t>
            </a:r>
            <a:r>
              <a:rPr lang="en-US" sz="2800" dirty="0">
                <a:latin typeface="Times New Roman" panose="02020603050405020304" pitchFamily="18" charset="0"/>
                <a:ea typeface="Poppins Italics"/>
                <a:cs typeface="Times New Roman" panose="02020603050405020304" pitchFamily="18" charset="0"/>
                <a:sym typeface="Poppins Italics"/>
              </a:rPr>
              <a:t>Trying to One-Hot Encode 300+ US airports created a 1,062-column dataset that risked crashing the system's RAM.</a:t>
            </a:r>
          </a:p>
          <a:p>
            <a:pPr marL="457200" indent="-457200">
              <a:lnSpc>
                <a:spcPts val="4235"/>
              </a:lnSpc>
              <a:buFont typeface="Arial" panose="020B0604020202020204" pitchFamily="34" charset="0"/>
              <a:buChar char="•"/>
            </a:pPr>
            <a:endParaRPr lang="en-US" sz="2800" b="1"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2800" b="1" dirty="0">
                <a:latin typeface="Times New Roman" panose="02020603050405020304" pitchFamily="18" charset="0"/>
                <a:ea typeface="Poppins Italics"/>
                <a:cs typeface="Times New Roman" panose="02020603050405020304" pitchFamily="18" charset="0"/>
                <a:sym typeface="Poppins Italics"/>
              </a:rPr>
              <a:t>Overplotting: </a:t>
            </a:r>
            <a:r>
              <a:rPr lang="en-US" sz="2800" dirty="0">
                <a:latin typeface="Times New Roman" panose="02020603050405020304" pitchFamily="18" charset="0"/>
                <a:ea typeface="Poppins Italics"/>
                <a:cs typeface="Times New Roman" panose="02020603050405020304" pitchFamily="18" charset="0"/>
                <a:sym typeface="Poppins Italics"/>
              </a:rPr>
              <a:t>Standard scatter plots turned into solid blocks of color due to plotting 1.7 million overlapping points..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29502" y="3093509"/>
            <a:ext cx="2186679" cy="2434562"/>
          </a:xfrm>
          <a:custGeom>
            <a:avLst/>
            <a:gdLst/>
            <a:ahLst/>
            <a:cxnLst/>
            <a:rect l="l" t="t" r="r" b="b"/>
            <a:pathLst>
              <a:path w="2186679" h="2434562">
                <a:moveTo>
                  <a:pt x="0" y="0"/>
                </a:moveTo>
                <a:lnTo>
                  <a:pt x="2186679" y="0"/>
                </a:lnTo>
                <a:lnTo>
                  <a:pt x="2186679" y="2434562"/>
                </a:lnTo>
                <a:lnTo>
                  <a:pt x="0" y="24345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Future Work &amp; Conclusion</a:t>
            </a:r>
          </a:p>
        </p:txBody>
      </p:sp>
      <p:sp>
        <p:nvSpPr>
          <p:cNvPr id="8" name="TextBox 7">
            <a:extLst>
              <a:ext uri="{FF2B5EF4-FFF2-40B4-BE49-F238E27FC236}">
                <a16:creationId xmlns:a16="http://schemas.microsoft.com/office/drawing/2014/main" id="{CFE2F1F7-D68B-225C-1843-E2FA7267C8DA}"/>
              </a:ext>
            </a:extLst>
          </p:cNvPr>
          <p:cNvSpPr txBox="1"/>
          <p:nvPr/>
        </p:nvSpPr>
        <p:spPr>
          <a:xfrm>
            <a:off x="3048000" y="3619500"/>
            <a:ext cx="13411200" cy="4832092"/>
          </a:xfrm>
          <a:prstGeom prst="rect">
            <a:avLst/>
          </a:prstGeom>
          <a:noFill/>
        </p:spPr>
        <p:txBody>
          <a:bodyPr wrap="square">
            <a:spAutoFit/>
          </a:bodyPr>
          <a:lstStyle/>
          <a:p>
            <a:r>
              <a:rPr lang="en-IN" sz="2800" b="1" dirty="0"/>
              <a:t>Future Work: </a:t>
            </a:r>
          </a:p>
          <a:p>
            <a:endParaRPr lang="en-IN" sz="2800" b="1" dirty="0"/>
          </a:p>
          <a:p>
            <a:r>
              <a:rPr lang="en-IN" sz="2800" dirty="0"/>
              <a:t>Next week involves dropping redundant categorical text columns to execute Principal Component Analysis (PCA) safely. Following that, we will integrate our EDA visuals into a fully interactive </a:t>
            </a:r>
            <a:r>
              <a:rPr lang="en-IN" sz="2800" dirty="0" err="1"/>
              <a:t>Streamlit</a:t>
            </a:r>
            <a:r>
              <a:rPr lang="en-IN" sz="2800" dirty="0"/>
              <a:t> web dashboard.</a:t>
            </a:r>
          </a:p>
          <a:p>
            <a:endParaRPr lang="en-IN" sz="2800" dirty="0"/>
          </a:p>
          <a:p>
            <a:r>
              <a:rPr lang="en-IN" sz="2800" b="1" dirty="0"/>
              <a:t>Conclusion: </a:t>
            </a:r>
          </a:p>
          <a:p>
            <a:endParaRPr lang="en-IN" sz="2800" b="1" dirty="0"/>
          </a:p>
          <a:p>
            <a:r>
              <a:rPr lang="en-IN" sz="2800" dirty="0"/>
              <a:t>We have successfully transitioned our project from descriptive statistics into advanced mathematical preparation. The dataset is no longer just raw flight logs; it is a stable, scaled foundation ready for complex Unsupervised Learning algorithms.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266700"/>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References</a:t>
            </a:r>
          </a:p>
        </p:txBody>
      </p:sp>
      <p:sp>
        <p:nvSpPr>
          <p:cNvPr id="7" name="Rectangle 1">
            <a:extLst>
              <a:ext uri="{FF2B5EF4-FFF2-40B4-BE49-F238E27FC236}">
                <a16:creationId xmlns:a16="http://schemas.microsoft.com/office/drawing/2014/main" id="{C59A02FC-E553-41DD-5A66-71C29F52ACE6}"/>
              </a:ext>
            </a:extLst>
          </p:cNvPr>
          <p:cNvSpPr>
            <a:spLocks noChangeArrowheads="1"/>
          </p:cNvSpPr>
          <p:nvPr/>
        </p:nvSpPr>
        <p:spPr bwMode="auto">
          <a:xfrm rot="10800000" flipV="1">
            <a:off x="1676400" y="2499836"/>
            <a:ext cx="13944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Kaggle – Flight Delay Dataset Repository</a:t>
            </a:r>
          </a:p>
          <a:p>
            <a:pPr eaLnBrk="0" fontAlgn="base" hangingPunct="0">
              <a:spcBef>
                <a:spcPct val="0"/>
              </a:spcBef>
              <a:spcAft>
                <a:spcPct val="0"/>
              </a:spcAft>
            </a:pPr>
            <a:r>
              <a:rPr lang="en-US" sz="3200" dirty="0">
                <a:latin typeface="Times New Roman" panose="02020603050405020304" pitchFamily="18" charset="0"/>
                <a:ea typeface="Poppins Italics"/>
                <a:cs typeface="Times New Roman" panose="02020603050405020304" pitchFamily="18" charset="0"/>
                <a:sym typeface="Poppins Italics"/>
                <a:hlinkClick r:id="rId3"/>
              </a:rPr>
              <a:t>https://www.kaggle.com/datasets/karthick564/flight-delay-analaysis-cleaned</a:t>
            </a:r>
            <a:endParaRPr lang="en-US" sz="3200" dirty="0">
              <a:latin typeface="Times New Roman" panose="02020603050405020304" pitchFamily="18" charset="0"/>
              <a:ea typeface="Poppins Italics"/>
              <a:cs typeface="Times New Roman" panose="02020603050405020304" pitchFamily="18" charset="0"/>
              <a:sym typeface="Poppins Italics"/>
            </a:endParaRPr>
          </a:p>
          <a:p>
            <a:pPr eaLnBrk="0" fontAlgn="base" hangingPunct="0">
              <a:spcBef>
                <a:spcPct val="0"/>
              </a:spcBef>
              <a:spcAft>
                <a:spcPct val="0"/>
              </a:spcAft>
            </a:pPr>
            <a:endParaRPr lang="en-US" sz="3200" dirty="0">
              <a:latin typeface="Arial" panose="020B0604020202020204" pitchFamily="34" charset="0"/>
              <a:ea typeface="Poppins Italics"/>
              <a:cs typeface="Times New Roman" panose="02020603050405020304" pitchFamily="18" charset="0"/>
              <a:sym typeface="Poppins Italics"/>
            </a:endParaRPr>
          </a:p>
          <a:p>
            <a:pPr eaLnBrk="0" fontAlgn="base" hangingPunct="0">
              <a:spcBef>
                <a:spcPct val="0"/>
              </a:spcBef>
              <a:spcAft>
                <a:spcPct val="0"/>
              </a:spcAft>
            </a:pPr>
            <a:r>
              <a:rPr kumimoji="0" lang="en-US" altLang="en-US" sz="3200" i="0" u="none" strike="noStrike" cap="none" normalizeH="0" baseline="0" dirty="0">
                <a:ln>
                  <a:noFill/>
                </a:ln>
                <a:solidFill>
                  <a:schemeClr val="tx1"/>
                </a:solidFill>
                <a:effectLst/>
                <a:latin typeface="Arial" panose="020B0604020202020204" pitchFamily="34" charset="0"/>
              </a:rPr>
              <a:t>Scikit-learn Documentation – Machine Learning &amp; PCA Techniques</a:t>
            </a:r>
            <a:br>
              <a:rPr kumimoji="0" lang="en-US" altLang="en-US" sz="3200" i="0" u="none" strike="noStrike" cap="none" normalizeH="0" baseline="0" dirty="0">
                <a:ln>
                  <a:noFill/>
                </a:ln>
                <a:solidFill>
                  <a:schemeClr val="tx1"/>
                </a:solidFill>
                <a:effectLst/>
                <a:latin typeface="Arial" panose="020B0604020202020204" pitchFamily="34" charset="0"/>
              </a:rPr>
            </a:br>
            <a:r>
              <a:rPr kumimoji="0" lang="en-US" altLang="en-US" sz="3200" i="0" u="none" strike="noStrike" cap="none" normalizeH="0" baseline="0" dirty="0">
                <a:ln>
                  <a:noFill/>
                </a:ln>
                <a:solidFill>
                  <a:schemeClr val="tx1"/>
                </a:solidFill>
                <a:effectLst/>
                <a:latin typeface="Arial" panose="020B0604020202020204" pitchFamily="34" charset="0"/>
                <a:hlinkClick r:id="rId4"/>
              </a:rPr>
              <a:t>https://scikit-learn.org/stable/</a:t>
            </a:r>
            <a:endParaRPr kumimoji="0" lang="en-US" altLang="en-US" sz="320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endParaRPr kumimoji="0" lang="en-US" altLang="en-US" sz="3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Pandas Documentation – Data Cleaning and Data Manipulation</a:t>
            </a:r>
            <a:br>
              <a:rPr kumimoji="0" lang="en-US" altLang="en-US" sz="3200" i="0" u="none" strike="noStrike" cap="none" normalizeH="0" baseline="0" dirty="0">
                <a:ln>
                  <a:noFill/>
                </a:ln>
                <a:solidFill>
                  <a:schemeClr val="tx1"/>
                </a:solidFill>
                <a:effectLst/>
                <a:latin typeface="Arial" panose="020B0604020202020204" pitchFamily="34" charset="0"/>
              </a:rPr>
            </a:br>
            <a:r>
              <a:rPr kumimoji="0" lang="en-US" altLang="en-US" sz="3200" i="0" u="none" strike="noStrike" cap="none" normalizeH="0" baseline="0" dirty="0">
                <a:ln>
                  <a:noFill/>
                </a:ln>
                <a:solidFill>
                  <a:schemeClr val="tx1"/>
                </a:solidFill>
                <a:effectLst/>
                <a:latin typeface="Arial" panose="020B0604020202020204" pitchFamily="34" charset="0"/>
                <a:hlinkClick r:id="rId5"/>
              </a:rPr>
              <a:t>https://pandas.pydata.org/docs/</a:t>
            </a:r>
            <a:endParaRPr kumimoji="0" lang="en-US" altLang="en-US" sz="3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Seaborn &amp; Matplotlib Documentation – Data Visualization Libraries</a:t>
            </a:r>
            <a:br>
              <a:rPr kumimoji="0" lang="en-US" altLang="en-US" sz="3200" i="0" u="none" strike="noStrike" cap="none" normalizeH="0" baseline="0" dirty="0">
                <a:ln>
                  <a:noFill/>
                </a:ln>
                <a:solidFill>
                  <a:schemeClr val="tx1"/>
                </a:solidFill>
                <a:effectLst/>
                <a:latin typeface="Arial" panose="020B0604020202020204" pitchFamily="34" charset="0"/>
              </a:rPr>
            </a:br>
            <a:r>
              <a:rPr kumimoji="0" lang="en-US" altLang="en-US" sz="3200" i="0" u="none" strike="noStrike" cap="none" normalizeH="0" baseline="0" dirty="0">
                <a:ln>
                  <a:noFill/>
                </a:ln>
                <a:solidFill>
                  <a:schemeClr val="tx1"/>
                </a:solidFill>
                <a:effectLst/>
                <a:latin typeface="Arial" panose="020B0604020202020204" pitchFamily="34" charset="0"/>
                <a:hlinkClick r:id="rId6"/>
              </a:rPr>
              <a:t>https://seaborn.pydata.org/</a:t>
            </a:r>
            <a:br>
              <a:rPr kumimoji="0" lang="en-US" altLang="en-US" sz="3200" i="0" u="none" strike="noStrike" cap="none" normalizeH="0" baseline="0" dirty="0">
                <a:ln>
                  <a:noFill/>
                </a:ln>
                <a:solidFill>
                  <a:schemeClr val="tx1"/>
                </a:solidFill>
                <a:effectLst/>
                <a:latin typeface="Arial" panose="020B0604020202020204" pitchFamily="34" charset="0"/>
              </a:rPr>
            </a:br>
            <a:r>
              <a:rPr kumimoji="0" lang="en-US" altLang="en-US" sz="3200" i="0" u="none" strike="noStrike" cap="none" normalizeH="0" baseline="0" dirty="0">
                <a:ln>
                  <a:noFill/>
                </a:ln>
                <a:solidFill>
                  <a:schemeClr val="tx1"/>
                </a:solidFill>
                <a:effectLst/>
                <a:latin typeface="Arial" panose="020B0604020202020204" pitchFamily="34" charset="0"/>
                <a:hlinkClick r:id="rId7"/>
              </a:rPr>
              <a:t>https://matplotlib.org/</a:t>
            </a:r>
            <a:endParaRPr kumimoji="0" lang="en-US" altLang="en-US" sz="32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75b73e7-722c-4013-b0ab-557461f00139">
      <Terms xmlns="http://schemas.microsoft.com/office/infopath/2007/PartnerControls"/>
    </lcf76f155ced4ddcb4097134ff3c332f>
    <TaxCatchAll xmlns="123cd861-5ec8-471f-a092-4a549bd6177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A0D721F109FD499D01339046B37967" ma:contentTypeVersion="10" ma:contentTypeDescription="Create a new document." ma:contentTypeScope="" ma:versionID="53b57ae1d3df3814263adef770592410">
  <xsd:schema xmlns:xsd="http://www.w3.org/2001/XMLSchema" xmlns:xs="http://www.w3.org/2001/XMLSchema" xmlns:p="http://schemas.microsoft.com/office/2006/metadata/properties" xmlns:ns2="d75b73e7-722c-4013-b0ab-557461f00139" xmlns:ns3="123cd861-5ec8-471f-a092-4a549bd61773" targetNamespace="http://schemas.microsoft.com/office/2006/metadata/properties" ma:root="true" ma:fieldsID="baf14b263cf4181c4b33c184c49c1c33" ns2:_="" ns3:_="">
    <xsd:import namespace="d75b73e7-722c-4013-b0ab-557461f00139"/>
    <xsd:import namespace="123cd861-5ec8-471f-a092-4a549bd6177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5b73e7-722c-4013-b0ab-557461f001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ea1b0d9-6ead-405e-a20d-02fb1ff6912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3cd861-5ec8-471f-a092-4a549bd6177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4dd7167-364e-43c9-a7c0-0138357b1e9c}" ma:internalName="TaxCatchAll" ma:showField="CatchAllData" ma:web="123cd861-5ec8-471f-a092-4a549bd617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78F222-1B32-4B85-AB90-876A769BC140}">
  <ds:schemaRefs>
    <ds:schemaRef ds:uri="http://schemas.microsoft.com/office/2006/metadata/properties"/>
    <ds:schemaRef ds:uri="http://schemas.microsoft.com/office/infopath/2007/PartnerControls"/>
    <ds:schemaRef ds:uri="d75b73e7-722c-4013-b0ab-557461f00139"/>
    <ds:schemaRef ds:uri="123cd861-5ec8-471f-a092-4a549bd61773"/>
  </ds:schemaRefs>
</ds:datastoreItem>
</file>

<file path=customXml/itemProps2.xml><?xml version="1.0" encoding="utf-8"?>
<ds:datastoreItem xmlns:ds="http://schemas.openxmlformats.org/officeDocument/2006/customXml" ds:itemID="{933E3D7C-5C3D-4B60-9674-3050C6F34FEA}">
  <ds:schemaRefs>
    <ds:schemaRef ds:uri="http://schemas.microsoft.com/sharepoint/v3/contenttype/forms"/>
  </ds:schemaRefs>
</ds:datastoreItem>
</file>

<file path=customXml/itemProps3.xml><?xml version="1.0" encoding="utf-8"?>
<ds:datastoreItem xmlns:ds="http://schemas.openxmlformats.org/officeDocument/2006/customXml" ds:itemID="{1BD0EC1C-73E4-414B-BED7-6F79C9CCBB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5b73e7-722c-4013-b0ab-557461f00139"/>
    <ds:schemaRef ds:uri="123cd861-5ec8-471f-a092-4a549bd617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238</TotalTime>
  <Words>1278</Words>
  <Application>Microsoft Office PowerPoint</Application>
  <PresentationFormat>Custom</PresentationFormat>
  <Paragraphs>138</Paragraphs>
  <Slides>18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Times New Roman</vt:lpstr>
      <vt:lpstr>Calibri</vt:lpstr>
      <vt:lpstr>Arial</vt:lpstr>
      <vt:lpstr>Times New Roman Bold</vt:lpstr>
      <vt:lpstr>Poppins</vt:lpstr>
      <vt:lpstr>Poppins Italics</vt:lpstr>
      <vt:lpstr>Poppins Bold</vt:lpstr>
      <vt:lpstr>Aptos</vt:lpstr>
      <vt:lpstr>Poppins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Visualization 24ADI204</dc:title>
  <cp:lastModifiedBy>nehakanagavelnk18@outlook.com</cp:lastModifiedBy>
  <cp:revision>6</cp:revision>
  <dcterms:created xsi:type="dcterms:W3CDTF">2006-08-16T00:00:00Z</dcterms:created>
  <dcterms:modified xsi:type="dcterms:W3CDTF">2026-03-10T09:12:06Z</dcterms:modified>
  <dc:identifier>DAHC23RksKI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0x01010067A0D721F109FD499D01339046B37967</vt:lpwstr>
  </property>
</Properties>
</file>